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778240" y="297180"/>
            <a:ext cx="1357884" cy="617220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36124" y="297180"/>
            <a:ext cx="1110996" cy="987552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914400"/>
            <a:ext cx="1234440" cy="1234440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012680" y="1284732"/>
            <a:ext cx="1234440" cy="864108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0" y="1284732"/>
            <a:ext cx="370332" cy="1357884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25128" y="2148840"/>
            <a:ext cx="987552" cy="740664"/>
          </a:xfrm>
          <a:prstGeom prst="line">
            <a:avLst/>
          </a:prstGeom>
          <a:noFill/>
          <a:ln w="15875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09660" y="845820"/>
            <a:ext cx="137160" cy="137160"/>
          </a:xfrm>
          <a:prstGeom prst="ellipse">
            <a:avLst/>
          </a:prstGeom>
          <a:solidFill>
            <a:srgbClr val="CADCFC">
              <a:alpha val="5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067544" y="228600"/>
            <a:ext cx="137160" cy="137160"/>
          </a:xfrm>
          <a:prstGeom prst="ellipse">
            <a:avLst/>
          </a:prstGeom>
          <a:solidFill>
            <a:srgbClr val="CADCFC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178540" y="1216152"/>
            <a:ext cx="137160" cy="137160"/>
          </a:xfrm>
          <a:prstGeom prst="ellipse">
            <a:avLst/>
          </a:prstGeom>
          <a:solidFill>
            <a:srgbClr val="CADCFC">
              <a:alpha val="5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944100" y="2080260"/>
            <a:ext cx="137160" cy="137160"/>
          </a:xfrm>
          <a:prstGeom prst="ellipse">
            <a:avLst/>
          </a:prstGeom>
          <a:solidFill>
            <a:srgbClr val="CADCFC">
              <a:alpha val="5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516868" y="2542032"/>
            <a:ext cx="201168" cy="201168"/>
          </a:xfrm>
          <a:prstGeom prst="ellipse">
            <a:avLst/>
          </a:prstGeom>
          <a:solidFill>
            <a:srgbClr val="E8A33D">
              <a:alpha val="5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56548" y="2820924"/>
            <a:ext cx="137160" cy="137160"/>
          </a:xfrm>
          <a:prstGeom prst="ellipse">
            <a:avLst/>
          </a:prstGeom>
          <a:solidFill>
            <a:srgbClr val="CADCFC">
              <a:alpha val="5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flipV="1">
            <a:off x="9692640" y="3200400"/>
            <a:ext cx="1005840" cy="457200"/>
          </a:xfrm>
          <a:prstGeom prst="line">
            <a:avLst/>
          </a:prstGeom>
          <a:noFill/>
          <a:ln w="15875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0" y="3200400"/>
            <a:ext cx="822960" cy="731520"/>
          </a:xfrm>
          <a:prstGeom prst="line">
            <a:avLst/>
          </a:prstGeom>
          <a:noFill/>
          <a:ln w="15875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0" y="3657600"/>
            <a:ext cx="914400" cy="914400"/>
          </a:xfrm>
          <a:prstGeom prst="line">
            <a:avLst/>
          </a:prstGeom>
          <a:noFill/>
          <a:ln w="15875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0607040" y="3931920"/>
            <a:ext cx="914400" cy="640080"/>
          </a:xfrm>
          <a:prstGeom prst="line">
            <a:avLst/>
          </a:prstGeom>
          <a:noFill/>
          <a:ln w="15875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21440" y="3931920"/>
            <a:ext cx="274320" cy="1005840"/>
          </a:xfrm>
          <a:prstGeom prst="line">
            <a:avLst/>
          </a:prstGeom>
          <a:noFill/>
          <a:ln w="15875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4572000"/>
            <a:ext cx="731520" cy="548640"/>
          </a:xfrm>
          <a:prstGeom prst="line">
            <a:avLst/>
          </a:prstGeom>
          <a:noFill/>
          <a:ln w="15875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24060" y="3589020"/>
            <a:ext cx="137160" cy="137160"/>
          </a:xfrm>
          <a:prstGeom prst="ellipse">
            <a:avLst/>
          </a:prstGeom>
          <a:solidFill>
            <a:srgbClr val="CADCFC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629900" y="3131820"/>
            <a:ext cx="137160" cy="137160"/>
          </a:xfrm>
          <a:prstGeom prst="ellipse">
            <a:avLst/>
          </a:prstGeom>
          <a:solidFill>
            <a:srgbClr val="CADCFC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52860" y="3863340"/>
            <a:ext cx="137160" cy="137160"/>
          </a:xfrm>
          <a:prstGeom prst="ellipse">
            <a:avLst/>
          </a:prstGeom>
          <a:solidFill>
            <a:srgbClr val="CADCFC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538460" y="4503420"/>
            <a:ext cx="137160" cy="137160"/>
          </a:xfrm>
          <a:prstGeom prst="ellipse">
            <a:avLst/>
          </a:prstGeom>
          <a:solidFill>
            <a:srgbClr val="CADCFC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695176" y="4837176"/>
            <a:ext cx="201168" cy="201168"/>
          </a:xfrm>
          <a:prstGeom prst="ellipse">
            <a:avLst/>
          </a:prstGeom>
          <a:solidFill>
            <a:srgbClr val="E8A33D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806940" y="5052060"/>
            <a:ext cx="137160" cy="137160"/>
          </a:xfrm>
          <a:prstGeom prst="ellipse">
            <a:avLst/>
          </a:prstGeom>
          <a:solidFill>
            <a:srgbClr val="CADCFC">
              <a:alpha val="3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3317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EXPOSURE GRAPH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548640" y="33375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Look-through that crosses asset classes — not just fund layers.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8640" y="4892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— SINGLE FAMILY OFFICE     ·     CYBRDECK HACKATHON     ·     15 AUG 2026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thestealthyworker   ·   Pilot data: Whitmore Family Office (synthetic)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isn't unknown. It's unaggregated.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needed to understand it is already written down — in twenty documents, twelve formats, from nine counterparties, that nobody reads together.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542032" cy="3063240"/>
          </a:xfrm>
          <a:prstGeom prst="roundRect">
            <a:avLst>
              <a:gd name="adj" fmla="val 3237"/>
            </a:avLst>
          </a:prstGeom>
          <a:solidFill>
            <a:srgbClr val="F1F5FC"/>
          </a:solidFill>
          <a:ln/>
          <a:effectLst>
            <a:outerShdw sx="100000" sy="100000" kx="0" ky="0" algn="bl" rotWithShape="0" blurRad="76200" dist="25400" dir="5400000">
              <a:srgbClr val="9AA7C7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265176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13232" y="3703320"/>
            <a:ext cx="22128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family offices cite private-market data as their #1 tech challenge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46704" y="2331720"/>
            <a:ext cx="2542032" cy="3063240"/>
          </a:xfrm>
          <a:prstGeom prst="roundRect">
            <a:avLst>
              <a:gd name="adj" fmla="val 3237"/>
            </a:avLst>
          </a:prstGeom>
          <a:solidFill>
            <a:srgbClr val="F1F5FC"/>
          </a:solidFill>
          <a:ln/>
          <a:effectLst>
            <a:outerShdw sx="100000" sy="100000" kx="0" ky="0" algn="bl" rotWithShape="0" blurRad="76200" dist="25400" dir="5400000">
              <a:srgbClr val="9AA7C7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11296" y="265176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11296" y="3703320"/>
            <a:ext cx="22128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internal expertise gaps in private-market analytics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44768" y="2331720"/>
            <a:ext cx="2542032" cy="3063240"/>
          </a:xfrm>
          <a:prstGeom prst="roundRect">
            <a:avLst>
              <a:gd name="adj" fmla="val 3237"/>
            </a:avLst>
          </a:prstGeom>
          <a:solidFill>
            <a:srgbClr val="F1F5FC"/>
          </a:solidFill>
          <a:ln/>
          <a:effectLst>
            <a:outerShdw sx="100000" sy="100000" kx="0" ky="0" algn="bl" rotWithShape="0" blurRad="76200" dist="25400" dir="5400000">
              <a:srgbClr val="9AA7C7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265176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45–75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3703320"/>
            <a:ext cx="22128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that PE NAVs lag after quarter-end — every number is stale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42832" y="2331720"/>
            <a:ext cx="2542032" cy="3063240"/>
          </a:xfrm>
          <a:prstGeom prst="roundRect">
            <a:avLst>
              <a:gd name="adj" fmla="val 3237"/>
            </a:avLst>
          </a:prstGeom>
          <a:solidFill>
            <a:srgbClr val="F1F5FC"/>
          </a:solidFill>
          <a:ln/>
          <a:effectLst>
            <a:outerShdw sx="100000" sy="100000" kx="0" ky="0" algn="bl" rotWithShape="0" blurRad="76200" dist="25400" dir="5400000">
              <a:srgbClr val="9AA7C7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65176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07424" y="3703320"/>
            <a:ext cx="22128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family-office AUM now sits in private equity alone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Masttro industry research,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058400" y="137160"/>
            <a:ext cx="905256" cy="411480"/>
          </a:xfrm>
          <a:prstGeom prst="line">
            <a:avLst/>
          </a:prstGeom>
          <a:noFill/>
          <a:ln w="1587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63656" y="137160"/>
            <a:ext cx="740664" cy="658368"/>
          </a:xfrm>
          <a:prstGeom prst="line">
            <a:avLst/>
          </a:prstGeom>
          <a:noFill/>
          <a:ln w="1587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548640"/>
            <a:ext cx="822960" cy="822960"/>
          </a:xfrm>
          <a:prstGeom prst="line">
            <a:avLst/>
          </a:prstGeom>
          <a:noFill/>
          <a:ln w="1587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881360" y="795528"/>
            <a:ext cx="822960" cy="576072"/>
          </a:xfrm>
          <a:prstGeom prst="line">
            <a:avLst/>
          </a:prstGeom>
          <a:noFill/>
          <a:ln w="1587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04320" y="795528"/>
            <a:ext cx="246888" cy="905256"/>
          </a:xfrm>
          <a:prstGeom prst="line">
            <a:avLst/>
          </a:prstGeom>
          <a:noFill/>
          <a:ln w="1587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22992" y="1371600"/>
            <a:ext cx="658368" cy="493776"/>
          </a:xfrm>
          <a:prstGeom prst="line">
            <a:avLst/>
          </a:prstGeom>
          <a:noFill/>
          <a:ln w="1587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9820" y="480060"/>
            <a:ext cx="137160" cy="13716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895076" y="68580"/>
            <a:ext cx="137160" cy="13716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5740" y="726948"/>
            <a:ext cx="137160" cy="13716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12780" y="1303020"/>
            <a:ext cx="137160" cy="13716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50624" y="1600200"/>
            <a:ext cx="201168" cy="201168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54412" y="1796796"/>
            <a:ext cx="137160" cy="13716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486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 mode: forced selling at the bottom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48640" y="16002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a weakening market, the ratio of distributions to contributions will likely decline.” </a:t>
            </a:r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calls accelerate exactly as the distributions that would fund them dry up — forcing families to </a:t>
            </a:r>
            <a:pPr indent="0" marL="0">
              <a:lnSpc>
                <a:spcPct val="125000"/>
              </a:lnSpc>
              <a:buNone/>
            </a:pPr>
            <a:r>
              <a:rPr lang="en-US" sz="16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“sell growth-focused assets during a drawdown to fund liquidity needs, undoing hard-earned portfolio outperformance.”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48640" y="2971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Cambridge Associates, Liquidity Hazard Planning for Families of Wealth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5074920" cy="2148840"/>
          </a:xfrm>
          <a:prstGeom prst="roundRect">
            <a:avLst>
              <a:gd name="adj" fmla="val 383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3367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STANDARD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57200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3.0×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822960" y="55778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post-stress liquid assets to annual cash needs (Cambridge Associates)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89320" y="3977640"/>
            <a:ext cx="5074920" cy="2148840"/>
          </a:xfrm>
          <a:prstGeom prst="roundRect">
            <a:avLst>
              <a:gd name="adj" fmla="val 3830"/>
            </a:avLst>
          </a:prstGeom>
          <a:solidFill>
            <a:srgbClr val="2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423367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WHITMORE FO — STRESS CASE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457200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0.92×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6263640" y="55778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under stress — a $307,500 shortfall, reproduced from the documents alone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claiming a green field.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incumbents precisely is part of investor due-diligence readiness.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42032" cy="3017520"/>
          </a:xfrm>
          <a:prstGeom prst="roundRect">
            <a:avLst>
              <a:gd name="adj" fmla="val 3237"/>
            </a:avLst>
          </a:prstGeom>
          <a:solidFill>
            <a:srgbClr val="F1F5FC"/>
          </a:solidFill>
          <a:ln/>
          <a:effectLst>
            <a:outerShdw sx="100000" sy="100000" kx="0" ky="0" algn="bl" rotWithShape="0" blurRad="76200" dist="25400" dir="5400000">
              <a:srgbClr val="9AA7C7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488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852928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Capital-call forecasting, bull/base/bear stress testing — shipped 15 May 2026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38221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Company-level look-through not addressed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46704" y="1920240"/>
            <a:ext cx="2542032" cy="3017520"/>
          </a:xfrm>
          <a:prstGeom prst="roundRect">
            <a:avLst>
              <a:gd name="adj" fmla="val 3237"/>
            </a:avLst>
          </a:prstGeom>
          <a:solidFill>
            <a:srgbClr val="F1F5FC"/>
          </a:solidFill>
          <a:ln/>
          <a:effectLst>
            <a:outerShdw sx="100000" sy="100000" kx="0" ky="0" algn="bl" rotWithShape="0" blurRad="76200" dist="25400" dir="5400000">
              <a:srgbClr val="9AA7C7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9584" y="21488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Masttro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9584" y="26060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29584" y="2852928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Fund-layer look-through; concentration flags by GP and vintage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29584" y="38221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29584" y="406908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liquidity stress modeling not addressed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44768" y="1920240"/>
            <a:ext cx="2542032" cy="3017520"/>
          </a:xfrm>
          <a:prstGeom prst="roundRect">
            <a:avLst>
              <a:gd name="adj" fmla="val 3237"/>
            </a:avLst>
          </a:prstGeom>
          <a:solidFill>
            <a:srgbClr val="F1F5FC"/>
          </a:solidFill>
          <a:ln/>
          <a:effectLst>
            <a:outerShdw sx="100000" sy="100000" kx="0" ky="0" algn="bl" rotWithShape="0" blurRad="76200" dist="25400" dir="5400000">
              <a:srgbClr val="9AA7C7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27648" y="21488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7648" y="26060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27648" y="2852928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alternative-asset document extraction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27648" y="38221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27648" y="406908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 that feeds other systems — not a risk engine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42832" y="1920240"/>
            <a:ext cx="2542032" cy="3017520"/>
          </a:xfrm>
          <a:prstGeom prst="roundRect">
            <a:avLst>
              <a:gd name="adj" fmla="val 3237"/>
            </a:avLst>
          </a:prstGeom>
          <a:solidFill>
            <a:srgbClr val="F1F5FC"/>
          </a:solidFill>
          <a:ln/>
          <a:effectLst>
            <a:outerShdw sx="100000" sy="100000" kx="0" ky="0" algn="bl" rotWithShape="0" blurRad="76200" dist="25400" dir="5400000">
              <a:srgbClr val="9AA7C7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25712" y="21488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Addepar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25712" y="26060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25712" y="2852928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Multi-asset reporting &amp; aggregation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25712" y="38221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25712" y="406908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Backward-looking, fund-level, priced for RIAs / MFOs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Aleta forecasts your cash. Masttro sees through your funds. Neither crosses asset classes.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seam that's still open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Look-through that crosses asset classes — not just fund layers.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5074920" cy="3566160"/>
          </a:xfrm>
          <a:prstGeom prst="roundRect">
            <a:avLst>
              <a:gd name="adj" fmla="val 2308"/>
            </a:avLst>
          </a:prstGeom>
          <a:solidFill>
            <a:srgbClr val="F1F5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249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LOOK-THROUGH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fund-of-funds and feeder structures — equity wrappers inside equity wrappers. A direct loan and a fund holding live in separate, asset-class-siloed tables by construction.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1325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52628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table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31720" y="4526280"/>
            <a:ext cx="1325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452628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table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0" y="4526280"/>
            <a:ext cx="1325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452628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 note)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2468880"/>
            <a:ext cx="5074920" cy="3566160"/>
          </a:xfrm>
          <a:prstGeom prst="roundRect">
            <a:avLst>
              <a:gd name="adj" fmla="val 2308"/>
            </a:avLst>
          </a:prstGeom>
          <a:solidFill>
            <a:srgbClr val="141B41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7249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ARCHITECTURE BET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31546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typed edges table. Equity holdings, debt positions, and guarantees are all edges between the same entity nodes: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1046074" cy="329184"/>
          </a:xfrm>
          <a:prstGeom prst="roundRect">
            <a:avLst>
              <a:gd name="adj" fmla="val 50000"/>
            </a:avLst>
          </a:prstGeom>
          <a:solidFill>
            <a:srgbClr val="2A3572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977640"/>
            <a:ext cx="1046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holds_equity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46874" y="3977640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2A3572"/>
          </a:solidFill>
          <a:ln/>
        </p:spPr>
      </p:sp>
      <p:sp>
        <p:nvSpPr>
          <p:cNvPr id="19" name="Text 17"/>
          <p:cNvSpPr/>
          <p:nvPr/>
        </p:nvSpPr>
        <p:spPr>
          <a:xfrm>
            <a:off x="7446874" y="397764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holds_debt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80146" y="3977640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8480146" y="397764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B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guarantees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513418" y="3977640"/>
            <a:ext cx="1121054" cy="329184"/>
          </a:xfrm>
          <a:prstGeom prst="roundRect">
            <a:avLst>
              <a:gd name="adj" fmla="val 50000"/>
            </a:avLst>
          </a:prstGeom>
          <a:solidFill>
            <a:srgbClr val="2A3572"/>
          </a:solidFill>
          <a:ln/>
        </p:spPr>
      </p:sp>
      <p:sp>
        <p:nvSpPr>
          <p:cNvPr id="23" name="Text 21"/>
          <p:cNvSpPr/>
          <p:nvPr/>
        </p:nvSpPr>
        <p:spPr>
          <a:xfrm>
            <a:off x="9513418" y="3977640"/>
            <a:ext cx="11210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owns_property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434840"/>
            <a:ext cx="671170" cy="329184"/>
          </a:xfrm>
          <a:prstGeom prst="roundRect">
            <a:avLst>
              <a:gd name="adj" fmla="val 50000"/>
            </a:avLst>
          </a:prstGeom>
          <a:solidFill>
            <a:srgbClr val="2A3572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434840"/>
            <a:ext cx="6711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63640" y="498348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is a first-class edge — not a text note on a loan record. This single choice is what makes the headline finding computable.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FINDING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hedge is your own position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331720" cy="777240"/>
          </a:xfrm>
          <a:prstGeom prst="roundRect">
            <a:avLst>
              <a:gd name="adj" fmla="val 11765"/>
            </a:avLst>
          </a:prstGeom>
          <a:solidFill>
            <a:srgbClr val="2A357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Whitmore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Office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09160" y="214884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2A3572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2148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Kestrel Ventures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III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869680" y="21488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0" y="2148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Aurex Data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Centers, Inc.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80360" y="2537460"/>
            <a:ext cx="1828800" cy="91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880360" y="21534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investment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0" y="2537460"/>
            <a:ext cx="1554480" cy="91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315200" y="21534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holds_equity · $459,000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14500" y="2926080"/>
            <a:ext cx="914" cy="502920"/>
          </a:xfrm>
          <a:prstGeom prst="line">
            <a:avLst/>
          </a:prstGeom>
          <a:noFill/>
          <a:ln w="19050">
            <a:solidFill>
              <a:srgbClr val="D9A79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14500" y="3429000"/>
            <a:ext cx="8481060" cy="914"/>
          </a:xfrm>
          <a:prstGeom prst="line">
            <a:avLst/>
          </a:prstGeom>
          <a:noFill/>
          <a:ln w="19050">
            <a:solidFill>
              <a:srgbClr val="D9A79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0195560" y="3429000"/>
            <a:ext cx="914" cy="-502920"/>
          </a:xfrm>
          <a:prstGeom prst="line">
            <a:avLst/>
          </a:prstGeom>
          <a:noFill/>
          <a:ln w="19050">
            <a:solidFill>
              <a:srgbClr val="D9A79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48640" y="3483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holds_debt (Blackfin) · $2,000,000 — UNSECURED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V="1">
            <a:off x="6012180" y="1645920"/>
            <a:ext cx="914" cy="50292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12180" y="1645920"/>
            <a:ext cx="4183380" cy="914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95560" y="1645920"/>
            <a:ext cx="914" cy="50292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012180" y="1316736"/>
            <a:ext cx="4183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the loan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$2,459,000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single-counterparty exposure to Aurex Data Centers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548640" y="53035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credit event impairs the equity, leaves the loan unsecured, and weakens the guarantee that was its only credit support — because the guarantor's capacity is the same portfolio. The credit protection is your own position wearing a different hat.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across two documents from two counterparties, one on a second worksheet. Only computable if guarantees is a first-class graph edge.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more findings the documents were already carrying.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074920" cy="4434840"/>
          </a:xfrm>
          <a:prstGeom prst="roundRect">
            <a:avLst>
              <a:gd name="adj" fmla="val 1856"/>
            </a:avLst>
          </a:prstGeom>
          <a:solidFill>
            <a:srgbClr val="F1F5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CONCENTRATION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1762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Vertexa Software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633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in two funds, under two spellings, at two different as-of dates: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IV  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· $1,884,000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Kestrel III  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· $612,000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4526280" cy="457200"/>
          </a:xfrm>
          <a:prstGeom prst="rect">
            <a:avLst/>
          </a:prstGeom>
          <a:solidFill>
            <a:srgbClr val="DCE6F5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4069080"/>
            <a:ext cx="905256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63600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$2,496,000 = 20% of the entire PE book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“diversified” funds, 26 companies — one name is a fifth of the allocation.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554480"/>
            <a:ext cx="5074920" cy="4434840"/>
          </a:xfrm>
          <a:prstGeom prst="roundRect">
            <a:avLst>
              <a:gd name="adj" fmla="val 1856"/>
            </a:avLst>
          </a:prstGeom>
          <a:solidFill>
            <a:srgbClr val="F1F5FC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8288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COLLISION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63640" y="21762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0.92× vs. 3.0×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63640" y="263347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Undrawn commitments $5,650,000 vs. liquid book $4,200,000. Under stress (equity −30%, calls to 65% of undrawn, distributions → 0):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standard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3794760"/>
            <a:ext cx="4073652" cy="36576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8" name="Text 16"/>
          <p:cNvSpPr/>
          <p:nvPr/>
        </p:nvSpPr>
        <p:spPr>
          <a:xfrm>
            <a:off x="10428732" y="3794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Whitmore stress case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4663440"/>
            <a:ext cx="1249253" cy="365760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21" name="Text 19"/>
          <p:cNvSpPr/>
          <p:nvPr/>
        </p:nvSpPr>
        <p:spPr>
          <a:xfrm>
            <a:off x="7604333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530352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$307,500 shortfall. Default on a call risks forfeiture of up to 100% of the LP interest — a $12,480,000 NAV at risk over a $307,500 gap.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inbox to answer.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51560" y="2331720"/>
            <a:ext cx="10088575" cy="914"/>
          </a:xfrm>
          <a:prstGeom prst="line">
            <a:avLst/>
          </a:prstGeom>
          <a:noFill/>
          <a:ln w="25400">
            <a:solidFill>
              <a:srgbClr val="C7D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0"/>
            <a:ext cx="1005840" cy="1005840"/>
          </a:xfrm>
          <a:prstGeom prst="ellipse">
            <a:avLst/>
          </a:prstGeom>
          <a:solidFill>
            <a:srgbClr val="141B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6355" y="1828800"/>
            <a:ext cx="1005840" cy="1005840"/>
          </a:xfrm>
          <a:prstGeom prst="ellipse">
            <a:avLst/>
          </a:prstGeom>
          <a:solidFill>
            <a:srgbClr val="141B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6355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92035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74342" y="1719072"/>
            <a:ext cx="1225296" cy="1225296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4342" y="1719072"/>
            <a:ext cx="122529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09750" y="30815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01785" y="1828800"/>
            <a:ext cx="1005840" cy="1005840"/>
          </a:xfrm>
          <a:prstGeom prst="ellipse">
            <a:avLst/>
          </a:prstGeom>
          <a:solidFill>
            <a:srgbClr val="141B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785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27465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19500" y="1828800"/>
            <a:ext cx="1005840" cy="1005840"/>
          </a:xfrm>
          <a:prstGeom prst="ellipse">
            <a:avLst/>
          </a:prstGeom>
          <a:solidFill>
            <a:srgbClr val="141B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19500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4518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637215" y="1828800"/>
            <a:ext cx="1005840" cy="1005840"/>
          </a:xfrm>
          <a:prstGeom prst="ellipse">
            <a:avLst/>
          </a:prstGeom>
          <a:solidFill>
            <a:srgbClr val="141B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37215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362895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1F5F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70332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is the whole product.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 across every extracted name asks: which of these refer to the same real-world entity? Results are written to an aliases table, with a manual override as the escape hatch. If this step fails, every finding vanishes.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074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— THE LOAD-BEARING DECISION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typed edges table — not one per asset class. Every value carries as_of_date + confidence: a number without a date is a lie, and an extraction without a confidence score is an unaudited claim.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22960" y="4389120"/>
            <a:ext cx="1207008" cy="548640"/>
          </a:xfrm>
          <a:prstGeom prst="line">
            <a:avLst/>
          </a:prstGeom>
          <a:noFill/>
          <a:ln w="1587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29968" y="4389120"/>
            <a:ext cx="987552" cy="877824"/>
          </a:xfrm>
          <a:prstGeom prst="line">
            <a:avLst/>
          </a:prstGeom>
          <a:noFill/>
          <a:ln w="1587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4937760"/>
            <a:ext cx="1097280" cy="1097280"/>
          </a:xfrm>
          <a:prstGeom prst="line">
            <a:avLst/>
          </a:prstGeom>
          <a:noFill/>
          <a:ln w="1587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920240" y="5266944"/>
            <a:ext cx="1097280" cy="768096"/>
          </a:xfrm>
          <a:prstGeom prst="line">
            <a:avLst/>
          </a:prstGeom>
          <a:noFill/>
          <a:ln w="1587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5266944"/>
            <a:ext cx="329184" cy="1207008"/>
          </a:xfrm>
          <a:prstGeom prst="line">
            <a:avLst/>
          </a:prstGeom>
          <a:noFill/>
          <a:ln w="1587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6035040"/>
            <a:ext cx="877824" cy="658368"/>
          </a:xfrm>
          <a:prstGeom prst="line">
            <a:avLst/>
          </a:prstGeom>
          <a:noFill/>
          <a:ln w="1587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" y="4869180"/>
            <a:ext cx="137160" cy="13716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961388" y="4320540"/>
            <a:ext cx="137160" cy="13716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948940" y="5198364"/>
            <a:ext cx="137160" cy="13716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51660" y="5966460"/>
            <a:ext cx="137160" cy="13716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6373368"/>
            <a:ext cx="201168" cy="201168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3836" y="6624828"/>
            <a:ext cx="137160" cy="13716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flipV="1">
            <a:off x="9875520" y="365760"/>
            <a:ext cx="1005840" cy="457200"/>
          </a:xfrm>
          <a:prstGeom prst="line">
            <a:avLst/>
          </a:prstGeom>
          <a:noFill/>
          <a:ln w="1587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81360" y="365760"/>
            <a:ext cx="822960" cy="731520"/>
          </a:xfrm>
          <a:prstGeom prst="line">
            <a:avLst/>
          </a:prstGeom>
          <a:noFill/>
          <a:ln w="1587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0" y="822960"/>
            <a:ext cx="914400" cy="914400"/>
          </a:xfrm>
          <a:prstGeom prst="line">
            <a:avLst/>
          </a:prstGeom>
          <a:noFill/>
          <a:ln w="1587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0789920" y="1097280"/>
            <a:ext cx="914400" cy="640080"/>
          </a:xfrm>
          <a:prstGeom prst="line">
            <a:avLst/>
          </a:prstGeom>
          <a:noFill/>
          <a:ln w="1587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1097280"/>
            <a:ext cx="274320" cy="1005840"/>
          </a:xfrm>
          <a:prstGeom prst="line">
            <a:avLst/>
          </a:prstGeom>
          <a:noFill/>
          <a:ln w="1587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0" y="1737360"/>
            <a:ext cx="731520" cy="548640"/>
          </a:xfrm>
          <a:prstGeom prst="line">
            <a:avLst/>
          </a:prstGeom>
          <a:noFill/>
          <a:ln w="15875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06940" y="754380"/>
            <a:ext cx="137160" cy="13716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812780" y="297180"/>
            <a:ext cx="137160" cy="13716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635740" y="1028700"/>
            <a:ext cx="137160" cy="13716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721340" y="1668780"/>
            <a:ext cx="137160" cy="13716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878056" y="2002536"/>
            <a:ext cx="201168" cy="201168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989820" y="2217420"/>
            <a:ext cx="137160" cy="13716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196596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an email.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the exposure graph in 60 seconds.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548640" y="37947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Aleta forecasts your cash. Masttro sees through your funds. Neither crosses asset classes. This does.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4864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— Single Family Office   ·   CybrDeck Hackathon   ·   GitHub: thestealthyworker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2026-08-15T02:38:43Z</dcterms:created>
  <dcterms:modified xsi:type="dcterms:W3CDTF">2026-08-15T02:38:43Z</dcterms:modified>
</cp:coreProperties>
</file>