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9140F"/>
        </a:solidFill>
      </p:bgPr>
    </p:bg>
    <p:spTree>
      <p:nvGrpSpPr>
        <p:cNvPr id="1" name=""/>
        <p:cNvGrpSpPr/>
        <p:nvPr/>
      </p:nvGrpSpPr>
      <p:grpSpPr>
        <a:xfrm>
          <a:off x="0" y="0"/>
          <a:ext cx="0" cy="0"/>
          <a:chOff x="0" y="0"/>
          <a:chExt cx="0" cy="0"/>
        </a:xfrm>
      </p:grpSpPr>
      <p:sp>
        <p:nvSpPr>
          <p:cNvPr id="2" name="Shape 0"/>
          <p:cNvSpPr/>
          <p:nvPr/>
        </p:nvSpPr>
        <p:spPr>
          <a:xfrm>
            <a:off x="0" y="0"/>
            <a:ext cx="82296" cy="5143500"/>
          </a:xfrm>
          <a:prstGeom prst="rect">
            <a:avLst/>
          </a:prstGeom>
          <a:solidFill>
            <a:srgbClr val="9C2B1F"/>
          </a:solidFill>
          <a:ln/>
        </p:spPr>
      </p:sp>
      <p:sp>
        <p:nvSpPr>
          <p:cNvPr id="3" name="Text 1"/>
          <p:cNvSpPr/>
          <p:nvPr/>
        </p:nvSpPr>
        <p:spPr>
          <a:xfrm>
            <a:off x="502920" y="932688"/>
            <a:ext cx="8138160" cy="256032"/>
          </a:xfrm>
          <a:prstGeom prst="rect">
            <a:avLst/>
          </a:prstGeom>
          <a:noFill/>
          <a:ln/>
        </p:spPr>
        <p:txBody>
          <a:bodyPr wrap="square" lIns="0" tIns="0" rIns="0" bIns="0" rtlCol="0" anchor="ctr"/>
          <a:lstStyle/>
          <a:p>
            <a:pPr indent="0" marL="0">
              <a:buNone/>
            </a:pPr>
            <a:r>
              <a:rPr lang="en-US" sz="1150" b="1" spc="300" kern="0" dirty="0">
                <a:solidFill>
                  <a:srgbClr val="9C2B1F"/>
                </a:solidFill>
                <a:latin typeface="Calibri" pitchFamily="34" charset="0"/>
                <a:ea typeface="Calibri" pitchFamily="34" charset="-122"/>
                <a:cs typeface="Calibri" pitchFamily="34" charset="-120"/>
              </a:rPr>
              <a:t>CYRDECK · EXPOSURE GRAPH</a:t>
            </a:r>
            <a:endParaRPr lang="en-US" sz="1150" dirty="0"/>
          </a:p>
        </p:txBody>
      </p:sp>
      <p:sp>
        <p:nvSpPr>
          <p:cNvPr id="4" name="Text 2"/>
          <p:cNvSpPr/>
          <p:nvPr/>
        </p:nvSpPr>
        <p:spPr>
          <a:xfrm>
            <a:off x="502920" y="1298448"/>
            <a:ext cx="6035040" cy="1737360"/>
          </a:xfrm>
          <a:prstGeom prst="rect">
            <a:avLst/>
          </a:prstGeom>
          <a:noFill/>
          <a:ln/>
        </p:spPr>
        <p:txBody>
          <a:bodyPr wrap="square" lIns="0" tIns="0" rIns="0" bIns="0" rtlCol="0" anchor="ctr"/>
          <a:lstStyle/>
          <a:p>
            <a:pPr indent="0" marL="0">
              <a:lnSpc>
                <a:spcPct val="95000"/>
              </a:lnSpc>
              <a:buNone/>
            </a:pPr>
            <a:r>
              <a:rPr lang="en-US" sz="4200" b="1" i="1" dirty="0">
                <a:solidFill>
                  <a:srgbClr val="F5F1E7"/>
                </a:solidFill>
                <a:latin typeface="Georgia" pitchFamily="34" charset="0"/>
                <a:ea typeface="Georgia" pitchFamily="34" charset="-122"/>
                <a:cs typeface="Georgia" pitchFamily="34" charset="-120"/>
              </a:rPr>
              <a:t>Your hedge is</a:t>
            </a:r>
            <a:endParaRPr lang="en-US" sz="4200" dirty="0"/>
          </a:p>
          <a:p>
            <a:pPr indent="0" marL="0">
              <a:lnSpc>
                <a:spcPct val="95000"/>
              </a:lnSpc>
              <a:buNone/>
            </a:pPr>
            <a:r>
              <a:rPr lang="en-US" sz="4200" b="1" i="1" dirty="0">
                <a:solidFill>
                  <a:srgbClr val="F5F1E7"/>
                </a:solidFill>
                <a:latin typeface="Georgia" pitchFamily="34" charset="0"/>
                <a:ea typeface="Georgia" pitchFamily="34" charset="-122"/>
                <a:cs typeface="Georgia" pitchFamily="34" charset="-120"/>
              </a:rPr>
              <a:t>your own position.</a:t>
            </a:r>
            <a:endParaRPr lang="en-US" sz="4200" dirty="0"/>
          </a:p>
        </p:txBody>
      </p:sp>
      <p:sp>
        <p:nvSpPr>
          <p:cNvPr id="5" name="Text 3"/>
          <p:cNvSpPr/>
          <p:nvPr/>
        </p:nvSpPr>
        <p:spPr>
          <a:xfrm>
            <a:off x="502920" y="3127248"/>
            <a:ext cx="5943600" cy="822960"/>
          </a:xfrm>
          <a:prstGeom prst="rect">
            <a:avLst/>
          </a:prstGeom>
          <a:noFill/>
          <a:ln/>
        </p:spPr>
        <p:txBody>
          <a:bodyPr wrap="square" lIns="0" tIns="0" rIns="0" bIns="0" rtlCol="0" anchor="ctr"/>
          <a:lstStyle/>
          <a:p>
            <a:pPr indent="0" marL="0">
              <a:lnSpc>
                <a:spcPct val="112000"/>
              </a:lnSpc>
              <a:buNone/>
            </a:pPr>
            <a:r>
              <a:rPr lang="en-US" sz="1350" dirty="0">
                <a:solidFill>
                  <a:srgbClr val="C9BFA8"/>
                </a:solidFill>
                <a:latin typeface="Calibri" pitchFamily="34" charset="0"/>
                <a:ea typeface="Calibri" pitchFamily="34" charset="-122"/>
                <a:cs typeface="Calibri" pitchFamily="34" charset="-120"/>
              </a:rPr>
              <a:t>Cross-asset-class look-through for single family offices — the exposure that sits in two different asset-class buckets, which conventional reporting structurally cannot see.</a:t>
            </a:r>
            <a:endParaRPr lang="en-US" sz="1350" dirty="0"/>
          </a:p>
        </p:txBody>
      </p:sp>
      <p:sp>
        <p:nvSpPr>
          <p:cNvPr id="6" name="Shape 4"/>
          <p:cNvSpPr/>
          <p:nvPr/>
        </p:nvSpPr>
        <p:spPr>
          <a:xfrm>
            <a:off x="6784848" y="1371600"/>
            <a:ext cx="1874520" cy="1572768"/>
          </a:xfrm>
          <a:prstGeom prst="rect">
            <a:avLst/>
          </a:prstGeom>
          <a:solidFill>
            <a:srgbClr val="241D16"/>
          </a:solidFill>
          <a:ln w="12700">
            <a:solidFill>
              <a:srgbClr val="9C2B1F"/>
            </a:solidFill>
            <a:prstDash val="solid"/>
          </a:ln>
        </p:spPr>
      </p:sp>
      <p:sp>
        <p:nvSpPr>
          <p:cNvPr id="7" name="Text 5"/>
          <p:cNvSpPr/>
          <p:nvPr/>
        </p:nvSpPr>
        <p:spPr>
          <a:xfrm>
            <a:off x="6949440" y="1517904"/>
            <a:ext cx="1554480" cy="219456"/>
          </a:xfrm>
          <a:prstGeom prst="rect">
            <a:avLst/>
          </a:prstGeom>
          <a:noFill/>
          <a:ln/>
        </p:spPr>
        <p:txBody>
          <a:bodyPr wrap="square" lIns="0" tIns="0" rIns="0" bIns="0" rtlCol="0" anchor="ctr"/>
          <a:lstStyle/>
          <a:p>
            <a:pPr indent="0" marL="0">
              <a:buNone/>
            </a:pPr>
            <a:r>
              <a:rPr lang="en-US" sz="900" b="1" spc="160" kern="0" dirty="0">
                <a:solidFill>
                  <a:srgbClr val="9C2B1F"/>
                </a:solidFill>
                <a:latin typeface="Calibri" pitchFamily="34" charset="0"/>
                <a:ea typeface="Calibri" pitchFamily="34" charset="-122"/>
                <a:cs typeface="Calibri" pitchFamily="34" charset="-120"/>
              </a:rPr>
              <a:t>LIVE TODAY</a:t>
            </a:r>
            <a:endParaRPr lang="en-US" sz="900" dirty="0"/>
          </a:p>
        </p:txBody>
      </p:sp>
      <p:sp>
        <p:nvSpPr>
          <p:cNvPr id="8" name="Text 6"/>
          <p:cNvSpPr/>
          <p:nvPr/>
        </p:nvSpPr>
        <p:spPr>
          <a:xfrm>
            <a:off x="6949440" y="1773936"/>
            <a:ext cx="1600200" cy="384048"/>
          </a:xfrm>
          <a:prstGeom prst="rect">
            <a:avLst/>
          </a:prstGeom>
          <a:noFill/>
          <a:ln/>
        </p:spPr>
        <p:txBody>
          <a:bodyPr wrap="square" lIns="0" tIns="0" rIns="0" bIns="0" rtlCol="0" anchor="ctr"/>
          <a:lstStyle/>
          <a:p>
            <a:pPr indent="0" marL="0">
              <a:buNone/>
            </a:pPr>
            <a:r>
              <a:rPr lang="en-US" sz="2100" b="1" dirty="0">
                <a:solidFill>
                  <a:srgbClr val="F5F1E7"/>
                </a:solidFill>
                <a:latin typeface="Georgia" pitchFamily="34" charset="0"/>
                <a:ea typeface="Georgia" pitchFamily="34" charset="-122"/>
                <a:cs typeface="Georgia" pitchFamily="34" charset="-120"/>
              </a:rPr>
              <a:t>$2,459,000</a:t>
            </a:r>
            <a:endParaRPr lang="en-US" sz="2100" dirty="0"/>
          </a:p>
        </p:txBody>
      </p:sp>
      <p:sp>
        <p:nvSpPr>
          <p:cNvPr id="9" name="Text 7"/>
          <p:cNvSpPr/>
          <p:nvPr/>
        </p:nvSpPr>
        <p:spPr>
          <a:xfrm>
            <a:off x="6949440" y="2157984"/>
            <a:ext cx="1572768" cy="713232"/>
          </a:xfrm>
          <a:prstGeom prst="rect">
            <a:avLst/>
          </a:prstGeom>
          <a:noFill/>
          <a:ln/>
        </p:spPr>
        <p:txBody>
          <a:bodyPr wrap="square" lIns="0" tIns="0" rIns="0" bIns="0" rtlCol="0" anchor="ctr"/>
          <a:lstStyle/>
          <a:p>
            <a:pPr indent="0" marL="0">
              <a:lnSpc>
                <a:spcPct val="105000"/>
              </a:lnSpc>
              <a:buNone/>
            </a:pPr>
            <a:r>
              <a:rPr lang="en-US" sz="850" dirty="0">
                <a:solidFill>
                  <a:srgbClr val="948A74"/>
                </a:solidFill>
                <a:latin typeface="Calibri" pitchFamily="34" charset="0"/>
                <a:ea typeface="Calibri" pitchFamily="34" charset="-122"/>
                <a:cs typeface="Calibri" pitchFamily="34" charset="-120"/>
              </a:rPr>
              <a:t>single-counterparty exposure reported today as diversification across two asset classes</a:t>
            </a:r>
            <a:endParaRPr lang="en-US" sz="850" dirty="0"/>
          </a:p>
        </p:txBody>
      </p:sp>
      <p:sp>
        <p:nvSpPr>
          <p:cNvPr id="10" name="Text 8"/>
          <p:cNvSpPr/>
          <p:nvPr/>
        </p:nvSpPr>
        <p:spPr>
          <a:xfrm>
            <a:off x="502920" y="4576572"/>
            <a:ext cx="4572000" cy="274320"/>
          </a:xfrm>
          <a:prstGeom prst="rect">
            <a:avLst/>
          </a:prstGeom>
          <a:noFill/>
          <a:ln/>
        </p:spPr>
        <p:txBody>
          <a:bodyPr wrap="square" lIns="0" tIns="0" rIns="0" bIns="0" rtlCol="0" anchor="ctr"/>
          <a:lstStyle/>
          <a:p>
            <a:pPr indent="0" marL="0">
              <a:buNone/>
            </a:pPr>
            <a:r>
              <a:rPr lang="en-US" sz="1050" dirty="0">
                <a:solidFill>
                  <a:srgbClr val="948A74"/>
                </a:solidFill>
                <a:latin typeface="Calibri" pitchFamily="34" charset="0"/>
                <a:ea typeface="Calibri" pitchFamily="34" charset="-122"/>
                <a:cs typeface="Calibri" pitchFamily="34" charset="-120"/>
              </a:rPr>
              <a:t>cyrdeck-familyoffice.vercel.app</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1E7"/>
        </a:solidFill>
      </p:bgPr>
    </p:bg>
    <p:spTree>
      <p:nvGrpSpPr>
        <p:cNvPr id="1" name=""/>
        <p:cNvGrpSpPr/>
        <p:nvPr/>
      </p:nvGrpSpPr>
      <p:grpSpPr>
        <a:xfrm>
          <a:off x="0" y="0"/>
          <a:ext cx="0" cy="0"/>
          <a:chOff x="0" y="0"/>
          <a:chExt cx="0" cy="0"/>
        </a:xfrm>
      </p:grpSpPr>
      <p:sp>
        <p:nvSpPr>
          <p:cNvPr id="2" name="Shape 0"/>
          <p:cNvSpPr/>
          <p:nvPr/>
        </p:nvSpPr>
        <p:spPr>
          <a:xfrm>
            <a:off x="0" y="0"/>
            <a:ext cx="82296" cy="5143500"/>
          </a:xfrm>
          <a:prstGeom prst="rect">
            <a:avLst/>
          </a:prstGeom>
          <a:solidFill>
            <a:srgbClr val="9C2B1F"/>
          </a:solidFill>
          <a:ln/>
        </p:spPr>
      </p:sp>
      <p:sp>
        <p:nvSpPr>
          <p:cNvPr id="3" name="Text 1"/>
          <p:cNvSpPr/>
          <p:nvPr/>
        </p:nvSpPr>
        <p:spPr>
          <a:xfrm>
            <a:off x="502920" y="310896"/>
            <a:ext cx="8138160" cy="219456"/>
          </a:xfrm>
          <a:prstGeom prst="rect">
            <a:avLst/>
          </a:prstGeom>
          <a:noFill/>
          <a:ln/>
        </p:spPr>
        <p:txBody>
          <a:bodyPr wrap="square" lIns="0" tIns="0" rIns="0" bIns="0" rtlCol="0" anchor="ctr"/>
          <a:lstStyle/>
          <a:p>
            <a:pPr indent="0" marL="0">
              <a:buNone/>
            </a:pPr>
            <a:r>
              <a:rPr lang="en-US" sz="1050" b="1" spc="220" kern="0" dirty="0">
                <a:solidFill>
                  <a:srgbClr val="9C2B1F"/>
                </a:solidFill>
                <a:latin typeface="Calibri" pitchFamily="34" charset="0"/>
                <a:ea typeface="Calibri" pitchFamily="34" charset="-122"/>
                <a:cs typeface="Calibri" pitchFamily="34" charset="-120"/>
              </a:rPr>
              <a:t>THE PROBLEM</a:t>
            </a:r>
            <a:endParaRPr lang="en-US" sz="1050" dirty="0"/>
          </a:p>
        </p:txBody>
      </p:sp>
      <p:sp>
        <p:nvSpPr>
          <p:cNvPr id="4" name="Text 2"/>
          <p:cNvSpPr/>
          <p:nvPr/>
        </p:nvSpPr>
        <p:spPr>
          <a:xfrm>
            <a:off x="502920" y="566928"/>
            <a:ext cx="8138160" cy="749808"/>
          </a:xfrm>
          <a:prstGeom prst="rect">
            <a:avLst/>
          </a:prstGeom>
          <a:noFill/>
          <a:ln/>
        </p:spPr>
        <p:txBody>
          <a:bodyPr wrap="square" lIns="0" tIns="0" rIns="0" bIns="0" rtlCol="0" anchor="ctr"/>
          <a:lstStyle/>
          <a:p>
            <a:pPr indent="0" marL="0">
              <a:lnSpc>
                <a:spcPct val="94000"/>
              </a:lnSpc>
              <a:buNone/>
            </a:pPr>
            <a:r>
              <a:rPr lang="en-US" sz="2800" b="1" dirty="0">
                <a:solidFill>
                  <a:srgbClr val="19140F"/>
                </a:solidFill>
                <a:latin typeface="Georgia" pitchFamily="34" charset="0"/>
                <a:ea typeface="Georgia" pitchFamily="34" charset="-122"/>
                <a:cs typeface="Georgia" pitchFamily="34" charset="-120"/>
              </a:rPr>
              <a:t>The risk isn't unknown. It's unaggregated.</a:t>
            </a:r>
            <a:endParaRPr lang="en-US" sz="2800" dirty="0"/>
          </a:p>
        </p:txBody>
      </p:sp>
      <p:sp>
        <p:nvSpPr>
          <p:cNvPr id="5" name="Text 3"/>
          <p:cNvSpPr/>
          <p:nvPr/>
        </p:nvSpPr>
        <p:spPr>
          <a:xfrm>
            <a:off x="502920" y="1389888"/>
            <a:ext cx="7772400" cy="658368"/>
          </a:xfrm>
          <a:prstGeom prst="rect">
            <a:avLst/>
          </a:prstGeom>
          <a:noFill/>
          <a:ln/>
        </p:spPr>
        <p:txBody>
          <a:bodyPr wrap="square" lIns="0" tIns="0" rIns="0" bIns="0" rtlCol="0" anchor="ctr"/>
          <a:lstStyle/>
          <a:p>
            <a:pPr indent="0" marL="0">
              <a:lnSpc>
                <a:spcPct val="110000"/>
              </a:lnSpc>
              <a:buNone/>
            </a:pPr>
            <a:r>
              <a:rPr lang="en-US" sz="1300" dirty="0">
                <a:solidFill>
                  <a:srgbClr val="58503F"/>
                </a:solidFill>
                <a:latin typeface="Calibri" pitchFamily="34" charset="0"/>
                <a:ea typeface="Calibri" pitchFamily="34" charset="-122"/>
                <a:cs typeface="Calibri" pitchFamily="34" charset="-120"/>
              </a:rPr>
              <a:t>Everything needed to see it is already written down — across twenty documents, in a dozen formats, from nine counterparties that nobody reads together.</a:t>
            </a:r>
            <a:endParaRPr lang="en-US" sz="1300" dirty="0"/>
          </a:p>
        </p:txBody>
      </p:sp>
      <p:sp>
        <p:nvSpPr>
          <p:cNvPr id="6" name="Shape 4"/>
          <p:cNvSpPr/>
          <p:nvPr/>
        </p:nvSpPr>
        <p:spPr>
          <a:xfrm>
            <a:off x="502920" y="2084832"/>
            <a:ext cx="1947672" cy="1572768"/>
          </a:xfrm>
          <a:prstGeom prst="rect">
            <a:avLst/>
          </a:prstGeom>
          <a:solidFill>
            <a:srgbClr val="FFFDF8"/>
          </a:solidFill>
          <a:ln w="12700">
            <a:solidFill>
              <a:srgbClr val="DDD2B8"/>
            </a:solidFill>
            <a:prstDash val="solid"/>
          </a:ln>
        </p:spPr>
      </p:sp>
      <p:sp>
        <p:nvSpPr>
          <p:cNvPr id="7" name="Shape 5"/>
          <p:cNvSpPr/>
          <p:nvPr/>
        </p:nvSpPr>
        <p:spPr>
          <a:xfrm>
            <a:off x="502920" y="2084832"/>
            <a:ext cx="1947672" cy="45720"/>
          </a:xfrm>
          <a:prstGeom prst="rect">
            <a:avLst/>
          </a:prstGeom>
          <a:solidFill>
            <a:srgbClr val="9C2B1F"/>
          </a:solidFill>
          <a:ln/>
        </p:spPr>
      </p:sp>
      <p:sp>
        <p:nvSpPr>
          <p:cNvPr id="8" name="Text 6"/>
          <p:cNvSpPr/>
          <p:nvPr/>
        </p:nvSpPr>
        <p:spPr>
          <a:xfrm>
            <a:off x="630936" y="2231136"/>
            <a:ext cx="1691640" cy="475488"/>
          </a:xfrm>
          <a:prstGeom prst="rect">
            <a:avLst/>
          </a:prstGeom>
          <a:noFill/>
          <a:ln/>
        </p:spPr>
        <p:txBody>
          <a:bodyPr wrap="square" lIns="0" tIns="0" rIns="0" bIns="0" rtlCol="0" anchor="ctr"/>
          <a:lstStyle/>
          <a:p>
            <a:pPr indent="0" marL="0">
              <a:buNone/>
            </a:pPr>
            <a:r>
              <a:rPr lang="en-US" sz="2700" b="1" dirty="0">
                <a:solidFill>
                  <a:srgbClr val="19140F"/>
                </a:solidFill>
                <a:latin typeface="Georgia" pitchFamily="34" charset="0"/>
                <a:ea typeface="Georgia" pitchFamily="34" charset="-122"/>
                <a:cs typeface="Georgia" pitchFamily="34" charset="-120"/>
              </a:rPr>
              <a:t>73%</a:t>
            </a:r>
            <a:endParaRPr lang="en-US" sz="2700" dirty="0"/>
          </a:p>
        </p:txBody>
      </p:sp>
      <p:sp>
        <p:nvSpPr>
          <p:cNvPr id="9" name="Text 7"/>
          <p:cNvSpPr/>
          <p:nvPr/>
        </p:nvSpPr>
        <p:spPr>
          <a:xfrm>
            <a:off x="630936" y="2743200"/>
            <a:ext cx="1691640" cy="822960"/>
          </a:xfrm>
          <a:prstGeom prst="rect">
            <a:avLst/>
          </a:prstGeom>
          <a:noFill/>
          <a:ln/>
        </p:spPr>
        <p:txBody>
          <a:bodyPr wrap="square" lIns="0" tIns="0" rIns="0" bIns="0" rtlCol="0" anchor="ctr"/>
          <a:lstStyle/>
          <a:p>
            <a:pPr indent="0" marL="0">
              <a:lnSpc>
                <a:spcPct val="106000"/>
              </a:lnSpc>
              <a:buNone/>
            </a:pPr>
            <a:r>
              <a:rPr lang="en-US" sz="1000" dirty="0">
                <a:solidFill>
                  <a:srgbClr val="58503F"/>
                </a:solidFill>
                <a:latin typeface="Calibri" pitchFamily="34" charset="0"/>
                <a:ea typeface="Calibri" pitchFamily="34" charset="-122"/>
                <a:cs typeface="Calibri" pitchFamily="34" charset="-120"/>
              </a:rPr>
              <a:t>cite private-market data as their single biggest technology challenge</a:t>
            </a:r>
            <a:endParaRPr lang="en-US" sz="1000" dirty="0"/>
          </a:p>
        </p:txBody>
      </p:sp>
      <p:sp>
        <p:nvSpPr>
          <p:cNvPr id="10" name="Shape 8"/>
          <p:cNvSpPr/>
          <p:nvPr/>
        </p:nvSpPr>
        <p:spPr>
          <a:xfrm>
            <a:off x="2596896" y="2084832"/>
            <a:ext cx="1947672" cy="1572768"/>
          </a:xfrm>
          <a:prstGeom prst="rect">
            <a:avLst/>
          </a:prstGeom>
          <a:solidFill>
            <a:srgbClr val="FFFDF8"/>
          </a:solidFill>
          <a:ln w="12700">
            <a:solidFill>
              <a:srgbClr val="DDD2B8"/>
            </a:solidFill>
            <a:prstDash val="solid"/>
          </a:ln>
        </p:spPr>
      </p:sp>
      <p:sp>
        <p:nvSpPr>
          <p:cNvPr id="11" name="Shape 9"/>
          <p:cNvSpPr/>
          <p:nvPr/>
        </p:nvSpPr>
        <p:spPr>
          <a:xfrm>
            <a:off x="2596896" y="2084832"/>
            <a:ext cx="1947672" cy="45720"/>
          </a:xfrm>
          <a:prstGeom prst="rect">
            <a:avLst/>
          </a:prstGeom>
          <a:solidFill>
            <a:srgbClr val="9C2B1F"/>
          </a:solidFill>
          <a:ln/>
        </p:spPr>
      </p:sp>
      <p:sp>
        <p:nvSpPr>
          <p:cNvPr id="12" name="Text 10"/>
          <p:cNvSpPr/>
          <p:nvPr/>
        </p:nvSpPr>
        <p:spPr>
          <a:xfrm>
            <a:off x="2724912" y="2231136"/>
            <a:ext cx="1691640" cy="475488"/>
          </a:xfrm>
          <a:prstGeom prst="rect">
            <a:avLst/>
          </a:prstGeom>
          <a:noFill/>
          <a:ln/>
        </p:spPr>
        <p:txBody>
          <a:bodyPr wrap="square" lIns="0" tIns="0" rIns="0" bIns="0" rtlCol="0" anchor="ctr"/>
          <a:lstStyle/>
          <a:p>
            <a:pPr indent="0" marL="0">
              <a:buNone/>
            </a:pPr>
            <a:r>
              <a:rPr lang="en-US" sz="2700" b="1" dirty="0">
                <a:solidFill>
                  <a:srgbClr val="19140F"/>
                </a:solidFill>
                <a:latin typeface="Georgia" pitchFamily="34" charset="0"/>
                <a:ea typeface="Georgia" pitchFamily="34" charset="-122"/>
                <a:cs typeface="Georgia" pitchFamily="34" charset="-120"/>
              </a:rPr>
              <a:t>75%</a:t>
            </a:r>
            <a:endParaRPr lang="en-US" sz="2700" dirty="0"/>
          </a:p>
        </p:txBody>
      </p:sp>
      <p:sp>
        <p:nvSpPr>
          <p:cNvPr id="13" name="Text 11"/>
          <p:cNvSpPr/>
          <p:nvPr/>
        </p:nvSpPr>
        <p:spPr>
          <a:xfrm>
            <a:off x="2724912" y="2743200"/>
            <a:ext cx="1691640" cy="822960"/>
          </a:xfrm>
          <a:prstGeom prst="rect">
            <a:avLst/>
          </a:prstGeom>
          <a:noFill/>
          <a:ln/>
        </p:spPr>
        <p:txBody>
          <a:bodyPr wrap="square" lIns="0" tIns="0" rIns="0" bIns="0" rtlCol="0" anchor="ctr"/>
          <a:lstStyle/>
          <a:p>
            <a:pPr indent="0" marL="0">
              <a:lnSpc>
                <a:spcPct val="106000"/>
              </a:lnSpc>
              <a:buNone/>
            </a:pPr>
            <a:r>
              <a:rPr lang="en-US" sz="1000" dirty="0">
                <a:solidFill>
                  <a:srgbClr val="58503F"/>
                </a:solidFill>
                <a:latin typeface="Calibri" pitchFamily="34" charset="0"/>
                <a:ea typeface="Calibri" pitchFamily="34" charset="-122"/>
                <a:cs typeface="Calibri" pitchFamily="34" charset="-120"/>
              </a:rPr>
              <a:t>report internal expertise gaps in private-market analytics</a:t>
            </a:r>
            <a:endParaRPr lang="en-US" sz="1000" dirty="0"/>
          </a:p>
        </p:txBody>
      </p:sp>
      <p:sp>
        <p:nvSpPr>
          <p:cNvPr id="14" name="Shape 12"/>
          <p:cNvSpPr/>
          <p:nvPr/>
        </p:nvSpPr>
        <p:spPr>
          <a:xfrm>
            <a:off x="4690872" y="2084832"/>
            <a:ext cx="1947672" cy="1572768"/>
          </a:xfrm>
          <a:prstGeom prst="rect">
            <a:avLst/>
          </a:prstGeom>
          <a:solidFill>
            <a:srgbClr val="FFFDF8"/>
          </a:solidFill>
          <a:ln w="12700">
            <a:solidFill>
              <a:srgbClr val="DDD2B8"/>
            </a:solidFill>
            <a:prstDash val="solid"/>
          </a:ln>
        </p:spPr>
      </p:sp>
      <p:sp>
        <p:nvSpPr>
          <p:cNvPr id="15" name="Shape 13"/>
          <p:cNvSpPr/>
          <p:nvPr/>
        </p:nvSpPr>
        <p:spPr>
          <a:xfrm>
            <a:off x="4690872" y="2084832"/>
            <a:ext cx="1947672" cy="45720"/>
          </a:xfrm>
          <a:prstGeom prst="rect">
            <a:avLst/>
          </a:prstGeom>
          <a:solidFill>
            <a:srgbClr val="A8641A"/>
          </a:solidFill>
          <a:ln/>
        </p:spPr>
      </p:sp>
      <p:sp>
        <p:nvSpPr>
          <p:cNvPr id="16" name="Text 14"/>
          <p:cNvSpPr/>
          <p:nvPr/>
        </p:nvSpPr>
        <p:spPr>
          <a:xfrm>
            <a:off x="4818888" y="2231136"/>
            <a:ext cx="1691640" cy="475488"/>
          </a:xfrm>
          <a:prstGeom prst="rect">
            <a:avLst/>
          </a:prstGeom>
          <a:noFill/>
          <a:ln/>
        </p:spPr>
        <p:txBody>
          <a:bodyPr wrap="square" lIns="0" tIns="0" rIns="0" bIns="0" rtlCol="0" anchor="ctr"/>
          <a:lstStyle/>
          <a:p>
            <a:pPr indent="0" marL="0">
              <a:buNone/>
            </a:pPr>
            <a:r>
              <a:rPr lang="en-US" sz="2700" b="1" dirty="0">
                <a:solidFill>
                  <a:srgbClr val="19140F"/>
                </a:solidFill>
                <a:latin typeface="Georgia" pitchFamily="34" charset="0"/>
                <a:ea typeface="Georgia" pitchFamily="34" charset="-122"/>
                <a:cs typeface="Georgia" pitchFamily="34" charset="-120"/>
              </a:rPr>
              <a:t>45–75</a:t>
            </a:r>
            <a:endParaRPr lang="en-US" sz="2700" dirty="0"/>
          </a:p>
        </p:txBody>
      </p:sp>
      <p:sp>
        <p:nvSpPr>
          <p:cNvPr id="17" name="Text 15"/>
          <p:cNvSpPr/>
          <p:nvPr/>
        </p:nvSpPr>
        <p:spPr>
          <a:xfrm>
            <a:off x="4818888" y="2743200"/>
            <a:ext cx="1691640" cy="822960"/>
          </a:xfrm>
          <a:prstGeom prst="rect">
            <a:avLst/>
          </a:prstGeom>
          <a:noFill/>
          <a:ln/>
        </p:spPr>
        <p:txBody>
          <a:bodyPr wrap="square" lIns="0" tIns="0" rIns="0" bIns="0" rtlCol="0" anchor="ctr"/>
          <a:lstStyle/>
          <a:p>
            <a:pPr indent="0" marL="0">
              <a:lnSpc>
                <a:spcPct val="106000"/>
              </a:lnSpc>
              <a:buNone/>
            </a:pPr>
            <a:r>
              <a:rPr lang="en-US" sz="1000" dirty="0">
                <a:solidFill>
                  <a:srgbClr val="58503F"/>
                </a:solidFill>
                <a:latin typeface="Calibri" pitchFamily="34" charset="0"/>
                <a:ea typeface="Calibri" pitchFamily="34" charset="-122"/>
                <a:cs typeface="Calibri" pitchFamily="34" charset="-120"/>
              </a:rPr>
              <a:t>days that PE NAVs lag after quarter-end — every number on file is stale</a:t>
            </a:r>
            <a:endParaRPr lang="en-US" sz="1000" dirty="0"/>
          </a:p>
        </p:txBody>
      </p:sp>
      <p:sp>
        <p:nvSpPr>
          <p:cNvPr id="18" name="Shape 16"/>
          <p:cNvSpPr/>
          <p:nvPr/>
        </p:nvSpPr>
        <p:spPr>
          <a:xfrm>
            <a:off x="6784848" y="2084832"/>
            <a:ext cx="1947672" cy="1572768"/>
          </a:xfrm>
          <a:prstGeom prst="rect">
            <a:avLst/>
          </a:prstGeom>
          <a:solidFill>
            <a:srgbClr val="FFFDF8"/>
          </a:solidFill>
          <a:ln w="12700">
            <a:solidFill>
              <a:srgbClr val="DDD2B8"/>
            </a:solidFill>
            <a:prstDash val="solid"/>
          </a:ln>
        </p:spPr>
      </p:sp>
      <p:sp>
        <p:nvSpPr>
          <p:cNvPr id="19" name="Shape 17"/>
          <p:cNvSpPr/>
          <p:nvPr/>
        </p:nvSpPr>
        <p:spPr>
          <a:xfrm>
            <a:off x="6784848" y="2084832"/>
            <a:ext cx="1947672" cy="45720"/>
          </a:xfrm>
          <a:prstGeom prst="rect">
            <a:avLst/>
          </a:prstGeom>
          <a:solidFill>
            <a:srgbClr val="A8641A"/>
          </a:solidFill>
          <a:ln/>
        </p:spPr>
      </p:sp>
      <p:sp>
        <p:nvSpPr>
          <p:cNvPr id="20" name="Text 18"/>
          <p:cNvSpPr/>
          <p:nvPr/>
        </p:nvSpPr>
        <p:spPr>
          <a:xfrm>
            <a:off x="6912864" y="2231136"/>
            <a:ext cx="1691640" cy="475488"/>
          </a:xfrm>
          <a:prstGeom prst="rect">
            <a:avLst/>
          </a:prstGeom>
          <a:noFill/>
          <a:ln/>
        </p:spPr>
        <p:txBody>
          <a:bodyPr wrap="square" lIns="0" tIns="0" rIns="0" bIns="0" rtlCol="0" anchor="ctr"/>
          <a:lstStyle/>
          <a:p>
            <a:pPr indent="0" marL="0">
              <a:buNone/>
            </a:pPr>
            <a:r>
              <a:rPr lang="en-US" sz="2700" b="1" dirty="0">
                <a:solidFill>
                  <a:srgbClr val="19140F"/>
                </a:solidFill>
                <a:latin typeface="Georgia" pitchFamily="34" charset="0"/>
                <a:ea typeface="Georgia" pitchFamily="34" charset="-122"/>
                <a:cs typeface="Georgia" pitchFamily="34" charset="-120"/>
              </a:rPr>
              <a:t>20+</a:t>
            </a:r>
            <a:endParaRPr lang="en-US" sz="2700" dirty="0"/>
          </a:p>
        </p:txBody>
      </p:sp>
      <p:sp>
        <p:nvSpPr>
          <p:cNvPr id="21" name="Text 19"/>
          <p:cNvSpPr/>
          <p:nvPr/>
        </p:nvSpPr>
        <p:spPr>
          <a:xfrm>
            <a:off x="6912864" y="2743200"/>
            <a:ext cx="1691640" cy="822960"/>
          </a:xfrm>
          <a:prstGeom prst="rect">
            <a:avLst/>
          </a:prstGeom>
          <a:noFill/>
          <a:ln/>
        </p:spPr>
        <p:txBody>
          <a:bodyPr wrap="square" lIns="0" tIns="0" rIns="0" bIns="0" rtlCol="0" anchor="ctr"/>
          <a:lstStyle/>
          <a:p>
            <a:pPr indent="0" marL="0">
              <a:lnSpc>
                <a:spcPct val="106000"/>
              </a:lnSpc>
              <a:buNone/>
            </a:pPr>
            <a:r>
              <a:rPr lang="en-US" sz="1000" dirty="0">
                <a:solidFill>
                  <a:srgbClr val="58503F"/>
                </a:solidFill>
                <a:latin typeface="Calibri" pitchFamily="34" charset="0"/>
                <a:ea typeface="Calibri" pitchFamily="34" charset="-122"/>
                <a:cs typeface="Calibri" pitchFamily="34" charset="-120"/>
              </a:rPr>
              <a:t>funds still administered on spreadsheets at a typical family office</a:t>
            </a:r>
            <a:endParaRPr lang="en-US" sz="1000" dirty="0"/>
          </a:p>
        </p:txBody>
      </p:sp>
      <p:sp>
        <p:nvSpPr>
          <p:cNvPr id="22" name="Text 20"/>
          <p:cNvSpPr/>
          <p:nvPr/>
        </p:nvSpPr>
        <p:spPr>
          <a:xfrm>
            <a:off x="502920" y="4722876"/>
            <a:ext cx="8138160" cy="274320"/>
          </a:xfrm>
          <a:prstGeom prst="rect">
            <a:avLst/>
          </a:prstGeom>
          <a:noFill/>
          <a:ln/>
        </p:spPr>
        <p:txBody>
          <a:bodyPr wrap="square" lIns="0" tIns="0" rIns="0" bIns="0" rtlCol="0" anchor="ctr"/>
          <a:lstStyle/>
          <a:p>
            <a:pPr indent="0" marL="0">
              <a:buNone/>
            </a:pPr>
            <a:r>
              <a:rPr lang="en-US" sz="900" i="1" dirty="0">
                <a:solidFill>
                  <a:srgbClr val="948A74"/>
                </a:solidFill>
                <a:latin typeface="Calibri" pitchFamily="34" charset="0"/>
                <a:ea typeface="Calibri" pitchFamily="34" charset="-122"/>
                <a:cs typeface="Calibri" pitchFamily="34" charset="-120"/>
              </a:rPr>
              <a:t>Sources: Masttro, private-market portfolio monitoring research (2026). Alternatives now ~45% of the average family office portfolio.</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1E7"/>
        </a:solidFill>
      </p:bgPr>
    </p:bg>
    <p:spTree>
      <p:nvGrpSpPr>
        <p:cNvPr id="1" name=""/>
        <p:cNvGrpSpPr/>
        <p:nvPr/>
      </p:nvGrpSpPr>
      <p:grpSpPr>
        <a:xfrm>
          <a:off x="0" y="0"/>
          <a:ext cx="0" cy="0"/>
          <a:chOff x="0" y="0"/>
          <a:chExt cx="0" cy="0"/>
        </a:xfrm>
      </p:grpSpPr>
      <p:sp>
        <p:nvSpPr>
          <p:cNvPr id="2" name="Shape 0"/>
          <p:cNvSpPr/>
          <p:nvPr/>
        </p:nvSpPr>
        <p:spPr>
          <a:xfrm>
            <a:off x="0" y="0"/>
            <a:ext cx="82296" cy="5143500"/>
          </a:xfrm>
          <a:prstGeom prst="rect">
            <a:avLst/>
          </a:prstGeom>
          <a:solidFill>
            <a:srgbClr val="9C2B1F"/>
          </a:solidFill>
          <a:ln/>
        </p:spPr>
      </p:sp>
      <p:sp>
        <p:nvSpPr>
          <p:cNvPr id="3" name="Text 1"/>
          <p:cNvSpPr/>
          <p:nvPr/>
        </p:nvSpPr>
        <p:spPr>
          <a:xfrm>
            <a:off x="502920" y="310896"/>
            <a:ext cx="8138160" cy="219456"/>
          </a:xfrm>
          <a:prstGeom prst="rect">
            <a:avLst/>
          </a:prstGeom>
          <a:noFill/>
          <a:ln/>
        </p:spPr>
        <p:txBody>
          <a:bodyPr wrap="square" lIns="0" tIns="0" rIns="0" bIns="0" rtlCol="0" anchor="ctr"/>
          <a:lstStyle/>
          <a:p>
            <a:pPr indent="0" marL="0">
              <a:buNone/>
            </a:pPr>
            <a:r>
              <a:rPr lang="en-US" sz="1050" b="1" spc="220" kern="0" dirty="0">
                <a:solidFill>
                  <a:srgbClr val="9C2B1F"/>
                </a:solidFill>
                <a:latin typeface="Calibri" pitchFamily="34" charset="0"/>
                <a:ea typeface="Calibri" pitchFamily="34" charset="-122"/>
                <a:cs typeface="Calibri" pitchFamily="34" charset="-120"/>
              </a:rPr>
              <a:t>WHY IT BITES</a:t>
            </a:r>
            <a:endParaRPr lang="en-US" sz="1050" dirty="0"/>
          </a:p>
        </p:txBody>
      </p:sp>
      <p:sp>
        <p:nvSpPr>
          <p:cNvPr id="4" name="Text 2"/>
          <p:cNvSpPr/>
          <p:nvPr/>
        </p:nvSpPr>
        <p:spPr>
          <a:xfrm>
            <a:off x="502920" y="566928"/>
            <a:ext cx="8138160" cy="749808"/>
          </a:xfrm>
          <a:prstGeom prst="rect">
            <a:avLst/>
          </a:prstGeom>
          <a:noFill/>
          <a:ln/>
        </p:spPr>
        <p:txBody>
          <a:bodyPr wrap="square" lIns="0" tIns="0" rIns="0" bIns="0" rtlCol="0" anchor="ctr"/>
          <a:lstStyle/>
          <a:p>
            <a:pPr indent="0" marL="0">
              <a:lnSpc>
                <a:spcPct val="94000"/>
              </a:lnSpc>
              <a:buNone/>
            </a:pPr>
            <a:r>
              <a:rPr lang="en-US" sz="2800" b="1" dirty="0">
                <a:solidFill>
                  <a:srgbClr val="19140F"/>
                </a:solidFill>
                <a:latin typeface="Georgia" pitchFamily="34" charset="0"/>
                <a:ea typeface="Georgia" pitchFamily="34" charset="-122"/>
                <a:cs typeface="Georgia" pitchFamily="34" charset="-120"/>
              </a:rPr>
              <a:t>Obligations rise as funding dries up</a:t>
            </a:r>
            <a:endParaRPr lang="en-US" sz="2800" dirty="0"/>
          </a:p>
        </p:txBody>
      </p:sp>
      <p:sp>
        <p:nvSpPr>
          <p:cNvPr id="5" name="Shape 3"/>
          <p:cNvSpPr/>
          <p:nvPr/>
        </p:nvSpPr>
        <p:spPr>
          <a:xfrm>
            <a:off x="502920" y="1444752"/>
            <a:ext cx="4709160" cy="1371600"/>
          </a:xfrm>
          <a:prstGeom prst="rect">
            <a:avLst/>
          </a:prstGeom>
          <a:solidFill>
            <a:srgbClr val="FFFDF8"/>
          </a:solidFill>
          <a:ln w="12700">
            <a:solidFill>
              <a:srgbClr val="DDD2B8"/>
            </a:solidFill>
            <a:prstDash val="solid"/>
          </a:ln>
        </p:spPr>
      </p:sp>
      <p:sp>
        <p:nvSpPr>
          <p:cNvPr id="6" name="Text 4"/>
          <p:cNvSpPr/>
          <p:nvPr/>
        </p:nvSpPr>
        <p:spPr>
          <a:xfrm>
            <a:off x="685800" y="1591056"/>
            <a:ext cx="4343400" cy="1097280"/>
          </a:xfrm>
          <a:prstGeom prst="rect">
            <a:avLst/>
          </a:prstGeom>
          <a:noFill/>
          <a:ln/>
        </p:spPr>
        <p:txBody>
          <a:bodyPr wrap="square" lIns="0" tIns="0" rIns="0" bIns="0" rtlCol="0" anchor="ctr"/>
          <a:lstStyle/>
          <a:p>
            <a:pPr indent="0" marL="0">
              <a:lnSpc>
                <a:spcPct val="110000"/>
              </a:lnSpc>
              <a:buNone/>
            </a:pPr>
            <a:r>
              <a:rPr lang="en-US" sz="1250" i="1" dirty="0">
                <a:solidFill>
                  <a:srgbClr val="19140F"/>
                </a:solidFill>
                <a:latin typeface="Georgia" pitchFamily="34" charset="0"/>
                <a:ea typeface="Georgia" pitchFamily="34" charset="-122"/>
                <a:cs typeface="Georgia" pitchFamily="34" charset="-120"/>
              </a:rPr>
              <a:t>“In a weakening market the ratio of distributions to contributions will likely decline.” Families are then forced to sell growth assets during a drawdown — “undoing hard-earned portfolio outperformance.”</a:t>
            </a:r>
            <a:endParaRPr lang="en-US" sz="1250" dirty="0"/>
          </a:p>
        </p:txBody>
      </p:sp>
      <p:sp>
        <p:nvSpPr>
          <p:cNvPr id="7" name="Text 5"/>
          <p:cNvSpPr/>
          <p:nvPr/>
        </p:nvSpPr>
        <p:spPr>
          <a:xfrm>
            <a:off x="685800" y="2852928"/>
            <a:ext cx="4297680" cy="219456"/>
          </a:xfrm>
          <a:prstGeom prst="rect">
            <a:avLst/>
          </a:prstGeom>
          <a:noFill/>
          <a:ln/>
        </p:spPr>
        <p:txBody>
          <a:bodyPr wrap="square" lIns="0" tIns="0" rIns="0" bIns="0" rtlCol="0" anchor="ctr"/>
          <a:lstStyle/>
          <a:p>
            <a:pPr indent="0" marL="0">
              <a:buNone/>
            </a:pPr>
            <a:r>
              <a:rPr lang="en-US" sz="1000" dirty="0">
                <a:solidFill>
                  <a:srgbClr val="948A74"/>
                </a:solidFill>
                <a:latin typeface="Calibri" pitchFamily="34" charset="0"/>
                <a:ea typeface="Calibri" pitchFamily="34" charset="-122"/>
                <a:cs typeface="Calibri" pitchFamily="34" charset="-120"/>
              </a:rPr>
              <a:t>— Cambridge Associates</a:t>
            </a:r>
            <a:endParaRPr lang="en-US" sz="1000" dirty="0"/>
          </a:p>
        </p:txBody>
      </p:sp>
      <p:sp>
        <p:nvSpPr>
          <p:cNvPr id="8" name="Text 6"/>
          <p:cNvSpPr/>
          <p:nvPr/>
        </p:nvSpPr>
        <p:spPr>
          <a:xfrm>
            <a:off x="5486400" y="1463040"/>
            <a:ext cx="3154680" cy="219456"/>
          </a:xfrm>
          <a:prstGeom prst="rect">
            <a:avLst/>
          </a:prstGeom>
          <a:noFill/>
          <a:ln/>
        </p:spPr>
        <p:txBody>
          <a:bodyPr wrap="square" lIns="0" tIns="0" rIns="0" bIns="0" rtlCol="0" anchor="ctr"/>
          <a:lstStyle/>
          <a:p>
            <a:pPr indent="0" marL="0">
              <a:buNone/>
            </a:pPr>
            <a:r>
              <a:rPr lang="en-US" sz="900" b="1" spc="120" kern="0" dirty="0">
                <a:solidFill>
                  <a:srgbClr val="948A74"/>
                </a:solidFill>
                <a:latin typeface="Calibri" pitchFamily="34" charset="0"/>
                <a:ea typeface="Calibri" pitchFamily="34" charset="-122"/>
                <a:cs typeface="Calibri" pitchFamily="34" charset="-120"/>
              </a:rPr>
              <a:t>THE INSTITUTIONAL STANDARD, AND THIS PORTFOLIO</a:t>
            </a:r>
            <a:endParaRPr lang="en-US" sz="900" dirty="0"/>
          </a:p>
        </p:txBody>
      </p:sp>
      <p:sp>
        <p:nvSpPr>
          <p:cNvPr id="9" name="Shape 7"/>
          <p:cNvSpPr/>
          <p:nvPr/>
        </p:nvSpPr>
        <p:spPr>
          <a:xfrm>
            <a:off x="5486400" y="1847088"/>
            <a:ext cx="3154680" cy="274320"/>
          </a:xfrm>
          <a:prstGeom prst="rect">
            <a:avLst/>
          </a:prstGeom>
          <a:solidFill>
            <a:srgbClr val="E6DDC8"/>
          </a:solidFill>
          <a:ln/>
        </p:spPr>
      </p:sp>
      <p:sp>
        <p:nvSpPr>
          <p:cNvPr id="10" name="Shape 8"/>
          <p:cNvSpPr/>
          <p:nvPr/>
        </p:nvSpPr>
        <p:spPr>
          <a:xfrm>
            <a:off x="5486400" y="1847088"/>
            <a:ext cx="3017520" cy="274320"/>
          </a:xfrm>
          <a:prstGeom prst="rect">
            <a:avLst/>
          </a:prstGeom>
          <a:solidFill>
            <a:srgbClr val="3D5164"/>
          </a:solidFill>
          <a:ln/>
        </p:spPr>
      </p:sp>
      <p:sp>
        <p:nvSpPr>
          <p:cNvPr id="11" name="Text 9"/>
          <p:cNvSpPr/>
          <p:nvPr/>
        </p:nvSpPr>
        <p:spPr>
          <a:xfrm>
            <a:off x="5486400" y="2157984"/>
            <a:ext cx="914400" cy="274320"/>
          </a:xfrm>
          <a:prstGeom prst="rect">
            <a:avLst/>
          </a:prstGeom>
          <a:noFill/>
          <a:ln/>
        </p:spPr>
        <p:txBody>
          <a:bodyPr wrap="square" lIns="0" tIns="0" rIns="0" bIns="0" rtlCol="0" anchor="ctr"/>
          <a:lstStyle/>
          <a:p>
            <a:pPr indent="0" marL="0">
              <a:buNone/>
            </a:pPr>
            <a:r>
              <a:rPr lang="en-US" sz="1500" b="1" dirty="0">
                <a:solidFill>
                  <a:srgbClr val="3D5164"/>
                </a:solidFill>
                <a:latin typeface="Georgia" pitchFamily="34" charset="0"/>
                <a:ea typeface="Georgia" pitchFamily="34" charset="-122"/>
                <a:cs typeface="Georgia" pitchFamily="34" charset="-120"/>
              </a:rPr>
              <a:t>3.00×</a:t>
            </a:r>
            <a:endParaRPr lang="en-US" sz="1500" dirty="0"/>
          </a:p>
        </p:txBody>
      </p:sp>
      <p:sp>
        <p:nvSpPr>
          <p:cNvPr id="12" name="Text 10"/>
          <p:cNvSpPr/>
          <p:nvPr/>
        </p:nvSpPr>
        <p:spPr>
          <a:xfrm>
            <a:off x="6492240" y="2176272"/>
            <a:ext cx="2148840" cy="274320"/>
          </a:xfrm>
          <a:prstGeom prst="rect">
            <a:avLst/>
          </a:prstGeom>
          <a:noFill/>
          <a:ln/>
        </p:spPr>
        <p:txBody>
          <a:bodyPr wrap="square" lIns="0" tIns="0" rIns="0" bIns="0" rtlCol="0" anchor="ctr"/>
          <a:lstStyle/>
          <a:p>
            <a:pPr algn="r" indent="0" marL="0">
              <a:buNone/>
            </a:pPr>
            <a:r>
              <a:rPr lang="en-US" sz="950" dirty="0">
                <a:solidFill>
                  <a:srgbClr val="58503F"/>
                </a:solidFill>
                <a:latin typeface="Calibri" pitchFamily="34" charset="0"/>
                <a:ea typeface="Calibri" pitchFamily="34" charset="-122"/>
                <a:cs typeface="Calibri" pitchFamily="34" charset="-120"/>
              </a:rPr>
              <a:t>Cambridge post-stress standard</a:t>
            </a:r>
            <a:endParaRPr lang="en-US" sz="950" dirty="0"/>
          </a:p>
        </p:txBody>
      </p:sp>
      <p:sp>
        <p:nvSpPr>
          <p:cNvPr id="13" name="Shape 11"/>
          <p:cNvSpPr/>
          <p:nvPr/>
        </p:nvSpPr>
        <p:spPr>
          <a:xfrm>
            <a:off x="5486400" y="2688336"/>
            <a:ext cx="3154680" cy="274320"/>
          </a:xfrm>
          <a:prstGeom prst="rect">
            <a:avLst/>
          </a:prstGeom>
          <a:solidFill>
            <a:srgbClr val="E6DDC8"/>
          </a:solidFill>
          <a:ln/>
        </p:spPr>
      </p:sp>
      <p:sp>
        <p:nvSpPr>
          <p:cNvPr id="14" name="Shape 12"/>
          <p:cNvSpPr/>
          <p:nvPr/>
        </p:nvSpPr>
        <p:spPr>
          <a:xfrm>
            <a:off x="5486400" y="2688336"/>
            <a:ext cx="914400" cy="274320"/>
          </a:xfrm>
          <a:prstGeom prst="rect">
            <a:avLst/>
          </a:prstGeom>
          <a:solidFill>
            <a:srgbClr val="9C2B1F"/>
          </a:solidFill>
          <a:ln/>
        </p:spPr>
      </p:sp>
      <p:sp>
        <p:nvSpPr>
          <p:cNvPr id="15" name="Text 13"/>
          <p:cNvSpPr/>
          <p:nvPr/>
        </p:nvSpPr>
        <p:spPr>
          <a:xfrm>
            <a:off x="5486400" y="2999232"/>
            <a:ext cx="914400" cy="274320"/>
          </a:xfrm>
          <a:prstGeom prst="rect">
            <a:avLst/>
          </a:prstGeom>
          <a:noFill/>
          <a:ln/>
        </p:spPr>
        <p:txBody>
          <a:bodyPr wrap="square" lIns="0" tIns="0" rIns="0" bIns="0" rtlCol="0" anchor="ctr"/>
          <a:lstStyle/>
          <a:p>
            <a:pPr indent="0" marL="0">
              <a:buNone/>
            </a:pPr>
            <a:r>
              <a:rPr lang="en-US" sz="1500" b="1" dirty="0">
                <a:solidFill>
                  <a:srgbClr val="9C2B1F"/>
                </a:solidFill>
                <a:latin typeface="Georgia" pitchFamily="34" charset="0"/>
                <a:ea typeface="Georgia" pitchFamily="34" charset="-122"/>
                <a:cs typeface="Georgia" pitchFamily="34" charset="-120"/>
              </a:rPr>
              <a:t>0.92×</a:t>
            </a:r>
            <a:endParaRPr lang="en-US" sz="1500" dirty="0"/>
          </a:p>
        </p:txBody>
      </p:sp>
      <p:sp>
        <p:nvSpPr>
          <p:cNvPr id="16" name="Text 14"/>
          <p:cNvSpPr/>
          <p:nvPr/>
        </p:nvSpPr>
        <p:spPr>
          <a:xfrm>
            <a:off x="6492240" y="3017520"/>
            <a:ext cx="2148840" cy="274320"/>
          </a:xfrm>
          <a:prstGeom prst="rect">
            <a:avLst/>
          </a:prstGeom>
          <a:noFill/>
          <a:ln/>
        </p:spPr>
        <p:txBody>
          <a:bodyPr wrap="square" lIns="0" tIns="0" rIns="0" bIns="0" rtlCol="0" anchor="ctr"/>
          <a:lstStyle/>
          <a:p>
            <a:pPr algn="r" indent="0" marL="0">
              <a:buNone/>
            </a:pPr>
            <a:r>
              <a:rPr lang="en-US" sz="950" dirty="0">
                <a:solidFill>
                  <a:srgbClr val="58503F"/>
                </a:solidFill>
                <a:latin typeface="Calibri" pitchFamily="34" charset="0"/>
                <a:ea typeface="Calibri" pitchFamily="34" charset="-122"/>
                <a:cs typeface="Calibri" pitchFamily="34" charset="-120"/>
              </a:rPr>
              <a:t>This portfolio, stressed</a:t>
            </a:r>
            <a:endParaRPr lang="en-US" sz="950" dirty="0"/>
          </a:p>
        </p:txBody>
      </p:sp>
      <p:sp>
        <p:nvSpPr>
          <p:cNvPr id="17" name="Shape 15"/>
          <p:cNvSpPr/>
          <p:nvPr/>
        </p:nvSpPr>
        <p:spPr>
          <a:xfrm>
            <a:off x="502920" y="3310128"/>
            <a:ext cx="4709160" cy="658368"/>
          </a:xfrm>
          <a:prstGeom prst="rect">
            <a:avLst/>
          </a:prstGeom>
          <a:solidFill>
            <a:srgbClr val="F6DED6"/>
          </a:solidFill>
          <a:ln/>
        </p:spPr>
      </p:sp>
      <p:sp>
        <p:nvSpPr>
          <p:cNvPr id="18" name="Text 16"/>
          <p:cNvSpPr/>
          <p:nvPr/>
        </p:nvSpPr>
        <p:spPr>
          <a:xfrm>
            <a:off x="667512" y="3401568"/>
            <a:ext cx="4389120" cy="493776"/>
          </a:xfrm>
          <a:prstGeom prst="rect">
            <a:avLst/>
          </a:prstGeom>
          <a:noFill/>
          <a:ln/>
        </p:spPr>
        <p:txBody>
          <a:bodyPr wrap="square" lIns="0" tIns="0" rIns="0" bIns="0" rtlCol="0" anchor="ctr"/>
          <a:lstStyle/>
          <a:p>
            <a:pPr indent="0" marL="0">
              <a:lnSpc>
                <a:spcPct val="105000"/>
              </a:lnSpc>
              <a:buNone/>
            </a:pPr>
            <a:r>
              <a:rPr lang="en-US" sz="1100" b="1" dirty="0">
                <a:solidFill>
                  <a:srgbClr val="5C1710"/>
                </a:solidFill>
                <a:latin typeface="Calibri" pitchFamily="34" charset="0"/>
                <a:ea typeface="Calibri" pitchFamily="34" charset="-122"/>
                <a:cs typeface="Calibri" pitchFamily="34" charset="-120"/>
              </a:rPr>
              <a:t>A $307,500 stressed shortfall puts $12,480,000 of NAV at risk of forced sale — 41× its size.</a:t>
            </a:r>
            <a:endParaRPr lang="en-US" sz="1100" dirty="0"/>
          </a:p>
        </p:txBody>
      </p:sp>
      <p:sp>
        <p:nvSpPr>
          <p:cNvPr id="19" name="Text 17"/>
          <p:cNvSpPr/>
          <p:nvPr/>
        </p:nvSpPr>
        <p:spPr>
          <a:xfrm>
            <a:off x="502920" y="4722876"/>
            <a:ext cx="8138160" cy="274320"/>
          </a:xfrm>
          <a:prstGeom prst="rect">
            <a:avLst/>
          </a:prstGeom>
          <a:noFill/>
          <a:ln/>
        </p:spPr>
        <p:txBody>
          <a:bodyPr wrap="square" lIns="0" tIns="0" rIns="0" bIns="0" rtlCol="0" anchor="ctr"/>
          <a:lstStyle/>
          <a:p>
            <a:pPr indent="0" marL="0">
              <a:buNone/>
            </a:pPr>
            <a:r>
              <a:rPr lang="en-US" sz="900" i="1" dirty="0">
                <a:solidFill>
                  <a:srgbClr val="948A74"/>
                </a:solidFill>
                <a:latin typeface="Calibri" pitchFamily="34" charset="0"/>
                <a:ea typeface="Calibri" pitchFamily="34" charset="-122"/>
                <a:cs typeface="Calibri" pitchFamily="34" charset="-120"/>
              </a:rPr>
              <a:t>Figures computed live by the product from the fixture portfolio. LP forfeiture is a real contractual tail risk but documented as rare — forced selling is the primary cost.</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9140F"/>
        </a:solidFill>
      </p:bgPr>
    </p:bg>
    <p:spTree>
      <p:nvGrpSpPr>
        <p:cNvPr id="1" name=""/>
        <p:cNvGrpSpPr/>
        <p:nvPr/>
      </p:nvGrpSpPr>
      <p:grpSpPr>
        <a:xfrm>
          <a:off x="0" y="0"/>
          <a:ext cx="0" cy="0"/>
          <a:chOff x="0" y="0"/>
          <a:chExt cx="0" cy="0"/>
        </a:xfrm>
      </p:grpSpPr>
      <p:sp>
        <p:nvSpPr>
          <p:cNvPr id="2" name="Shape 0"/>
          <p:cNvSpPr/>
          <p:nvPr/>
        </p:nvSpPr>
        <p:spPr>
          <a:xfrm>
            <a:off x="0" y="0"/>
            <a:ext cx="82296" cy="5143500"/>
          </a:xfrm>
          <a:prstGeom prst="rect">
            <a:avLst/>
          </a:prstGeom>
          <a:solidFill>
            <a:srgbClr val="9C2B1F"/>
          </a:solidFill>
          <a:ln/>
        </p:spPr>
      </p:sp>
      <p:sp>
        <p:nvSpPr>
          <p:cNvPr id="3" name="Text 1"/>
          <p:cNvSpPr/>
          <p:nvPr/>
        </p:nvSpPr>
        <p:spPr>
          <a:xfrm>
            <a:off x="502920" y="420624"/>
            <a:ext cx="8138160" cy="237744"/>
          </a:xfrm>
          <a:prstGeom prst="rect">
            <a:avLst/>
          </a:prstGeom>
          <a:noFill/>
          <a:ln/>
        </p:spPr>
        <p:txBody>
          <a:bodyPr wrap="square" lIns="0" tIns="0" rIns="0" bIns="0" rtlCol="0" anchor="ctr"/>
          <a:lstStyle/>
          <a:p>
            <a:pPr indent="0" marL="0">
              <a:buNone/>
            </a:pPr>
            <a:r>
              <a:rPr lang="en-US" sz="1050" b="1" spc="200" kern="0" dirty="0">
                <a:solidFill>
                  <a:srgbClr val="9C2B1F"/>
                </a:solidFill>
                <a:latin typeface="Calibri" pitchFamily="34" charset="0"/>
                <a:ea typeface="Calibri" pitchFamily="34" charset="-122"/>
                <a:cs typeface="Calibri" pitchFamily="34" charset="-120"/>
              </a:rPr>
              <a:t>THE FINDING CONVENTIONAL REPORTING CANNOT PRODUCE</a:t>
            </a:r>
            <a:endParaRPr lang="en-US" sz="1050" dirty="0"/>
          </a:p>
        </p:txBody>
      </p:sp>
      <p:sp>
        <p:nvSpPr>
          <p:cNvPr id="4" name="Text 2"/>
          <p:cNvSpPr/>
          <p:nvPr/>
        </p:nvSpPr>
        <p:spPr>
          <a:xfrm>
            <a:off x="502920" y="768096"/>
            <a:ext cx="4937760" cy="1005840"/>
          </a:xfrm>
          <a:prstGeom prst="rect">
            <a:avLst/>
          </a:prstGeom>
          <a:noFill/>
          <a:ln/>
        </p:spPr>
        <p:txBody>
          <a:bodyPr wrap="square" lIns="0" tIns="0" rIns="0" bIns="0" rtlCol="0" anchor="ctr"/>
          <a:lstStyle/>
          <a:p>
            <a:pPr indent="0" marL="0">
              <a:lnSpc>
                <a:spcPct val="98000"/>
              </a:lnSpc>
              <a:buNone/>
            </a:pPr>
            <a:r>
              <a:rPr lang="en-US" sz="2600" b="1" dirty="0">
                <a:solidFill>
                  <a:srgbClr val="F5F1E7"/>
                </a:solidFill>
                <a:latin typeface="Georgia" pitchFamily="34" charset="0"/>
                <a:ea typeface="Georgia" pitchFamily="34" charset="-122"/>
                <a:cs typeface="Georgia" pitchFamily="34" charset="-120"/>
              </a:rPr>
              <a:t>One company. Three roles.</a:t>
            </a:r>
            <a:endParaRPr lang="en-US" sz="2600" dirty="0"/>
          </a:p>
          <a:p>
            <a:pPr indent="0" marL="0">
              <a:lnSpc>
                <a:spcPct val="98000"/>
              </a:lnSpc>
              <a:buNone/>
            </a:pPr>
            <a:r>
              <a:rPr lang="en-US" sz="2600" b="1" dirty="0">
                <a:solidFill>
                  <a:srgbClr val="F5F1E7"/>
                </a:solidFill>
                <a:latin typeface="Georgia" pitchFamily="34" charset="0"/>
                <a:ea typeface="Georgia" pitchFamily="34" charset="-122"/>
                <a:cs typeface="Georgia" pitchFamily="34" charset="-120"/>
              </a:rPr>
              <a:t>Three asset classes.</a:t>
            </a:r>
            <a:endParaRPr lang="en-US" sz="2600" dirty="0"/>
          </a:p>
        </p:txBody>
      </p:sp>
      <p:sp>
        <p:nvSpPr>
          <p:cNvPr id="5" name="Text 3"/>
          <p:cNvSpPr/>
          <p:nvPr/>
        </p:nvSpPr>
        <p:spPr>
          <a:xfrm>
            <a:off x="502920" y="1883664"/>
            <a:ext cx="4754880" cy="1243584"/>
          </a:xfrm>
          <a:prstGeom prst="rect">
            <a:avLst/>
          </a:prstGeom>
          <a:noFill/>
          <a:ln/>
        </p:spPr>
        <p:txBody>
          <a:bodyPr wrap="square" lIns="0" tIns="0" rIns="0" bIns="0" rtlCol="0" anchor="ctr"/>
          <a:lstStyle/>
          <a:p>
            <a:pPr indent="0" marL="0">
              <a:lnSpc>
                <a:spcPct val="114000"/>
              </a:lnSpc>
              <a:buNone/>
            </a:pPr>
            <a:r>
              <a:rPr lang="en-US" sz="1200" dirty="0">
                <a:solidFill>
                  <a:srgbClr val="C9BFA8"/>
                </a:solidFill>
                <a:latin typeface="Calibri" pitchFamily="34" charset="0"/>
                <a:ea typeface="Calibri" pitchFamily="34" charset="-122"/>
                <a:cs typeface="Calibri" pitchFamily="34" charset="-120"/>
              </a:rPr>
              <a:t>Aurex Data Centers is held as equity inside a fund, lent to directly on an unsecured basis, and the guarantee behind that loan is written by the very same fund. One credit event impairs the equity, leaves the loan unsecured, and weakens the guarantee simultaneously.</a:t>
            </a:r>
            <a:endParaRPr lang="en-US" sz="1200" dirty="0"/>
          </a:p>
        </p:txBody>
      </p:sp>
      <p:sp>
        <p:nvSpPr>
          <p:cNvPr id="6" name="Text 4"/>
          <p:cNvSpPr/>
          <p:nvPr/>
        </p:nvSpPr>
        <p:spPr>
          <a:xfrm>
            <a:off x="502920" y="3182112"/>
            <a:ext cx="4754880" cy="493776"/>
          </a:xfrm>
          <a:prstGeom prst="rect">
            <a:avLst/>
          </a:prstGeom>
          <a:noFill/>
          <a:ln/>
        </p:spPr>
        <p:txBody>
          <a:bodyPr wrap="square" lIns="0" tIns="0" rIns="0" bIns="0" rtlCol="0" anchor="ctr"/>
          <a:lstStyle/>
          <a:p>
            <a:pPr indent="0" marL="0">
              <a:lnSpc>
                <a:spcPct val="106000"/>
              </a:lnSpc>
              <a:buNone/>
            </a:pPr>
            <a:r>
              <a:rPr lang="en-US" sz="1250" i="1" dirty="0">
                <a:solidFill>
                  <a:srgbClr val="F5F1E7"/>
                </a:solidFill>
                <a:latin typeface="Georgia" pitchFamily="34" charset="0"/>
                <a:ea typeface="Georgia" pitchFamily="34" charset="-122"/>
                <a:cs typeface="Georgia" pitchFamily="34" charset="-120"/>
              </a:rPr>
              <a:t>The credit protection is the family office's own position wearing a different hat.</a:t>
            </a:r>
            <a:endParaRPr lang="en-US" sz="1250" dirty="0"/>
          </a:p>
        </p:txBody>
      </p:sp>
      <p:sp>
        <p:nvSpPr>
          <p:cNvPr id="7" name="Shape 5"/>
          <p:cNvSpPr/>
          <p:nvPr/>
        </p:nvSpPr>
        <p:spPr>
          <a:xfrm>
            <a:off x="5623560" y="841248"/>
            <a:ext cx="3017520" cy="585216"/>
          </a:xfrm>
          <a:prstGeom prst="rect">
            <a:avLst/>
          </a:prstGeom>
          <a:solidFill>
            <a:srgbClr val="241D16"/>
          </a:solidFill>
          <a:ln w="12700">
            <a:solidFill>
              <a:srgbClr val="3D5164"/>
            </a:solidFill>
            <a:prstDash val="solid"/>
          </a:ln>
        </p:spPr>
      </p:sp>
      <p:sp>
        <p:nvSpPr>
          <p:cNvPr id="8" name="Text 6"/>
          <p:cNvSpPr/>
          <p:nvPr/>
        </p:nvSpPr>
        <p:spPr>
          <a:xfrm>
            <a:off x="5760720" y="905256"/>
            <a:ext cx="1737360" cy="182880"/>
          </a:xfrm>
          <a:prstGeom prst="rect">
            <a:avLst/>
          </a:prstGeom>
          <a:noFill/>
          <a:ln/>
        </p:spPr>
        <p:txBody>
          <a:bodyPr wrap="square" lIns="0" tIns="0" rIns="0" bIns="0" rtlCol="0" anchor="ctr"/>
          <a:lstStyle/>
          <a:p>
            <a:pPr indent="0" marL="0">
              <a:buNone/>
            </a:pPr>
            <a:r>
              <a:rPr lang="en-US" sz="800" b="1" spc="100" kern="0" dirty="0">
                <a:solidFill>
                  <a:srgbClr val="3D5164"/>
                </a:solidFill>
                <a:latin typeface="Calibri" pitchFamily="34" charset="0"/>
                <a:ea typeface="Calibri" pitchFamily="34" charset="-122"/>
                <a:cs typeface="Calibri" pitchFamily="34" charset="-120"/>
              </a:rPr>
              <a:t>EQUITY</a:t>
            </a:r>
            <a:endParaRPr lang="en-US" sz="800" dirty="0"/>
          </a:p>
        </p:txBody>
      </p:sp>
      <p:sp>
        <p:nvSpPr>
          <p:cNvPr id="9" name="Text 7"/>
          <p:cNvSpPr/>
          <p:nvPr/>
        </p:nvSpPr>
        <p:spPr>
          <a:xfrm>
            <a:off x="5760720" y="1097280"/>
            <a:ext cx="1783080" cy="256032"/>
          </a:xfrm>
          <a:prstGeom prst="rect">
            <a:avLst/>
          </a:prstGeom>
          <a:noFill/>
          <a:ln/>
        </p:spPr>
        <p:txBody>
          <a:bodyPr wrap="square" lIns="0" tIns="0" rIns="0" bIns="0" rtlCol="0" anchor="ctr"/>
          <a:lstStyle/>
          <a:p>
            <a:pPr indent="0" marL="0">
              <a:buNone/>
            </a:pPr>
            <a:r>
              <a:rPr lang="en-US" sz="900" dirty="0">
                <a:solidFill>
                  <a:srgbClr val="C9BFA8"/>
                </a:solidFill>
                <a:latin typeface="Calibri" pitchFamily="34" charset="0"/>
                <a:ea typeface="Calibri" pitchFamily="34" charset="-122"/>
                <a:cs typeface="Calibri" pitchFamily="34" charset="-120"/>
              </a:rPr>
              <a:t>held inside Kestrel III</a:t>
            </a:r>
            <a:endParaRPr lang="en-US" sz="900" dirty="0"/>
          </a:p>
        </p:txBody>
      </p:sp>
      <p:sp>
        <p:nvSpPr>
          <p:cNvPr id="10" name="Text 8"/>
          <p:cNvSpPr/>
          <p:nvPr/>
        </p:nvSpPr>
        <p:spPr>
          <a:xfrm>
            <a:off x="7589520" y="1005840"/>
            <a:ext cx="941832" cy="292608"/>
          </a:xfrm>
          <a:prstGeom prst="rect">
            <a:avLst/>
          </a:prstGeom>
          <a:noFill/>
          <a:ln/>
        </p:spPr>
        <p:txBody>
          <a:bodyPr wrap="square" lIns="0" tIns="0" rIns="0" bIns="0" rtlCol="0" anchor="ctr"/>
          <a:lstStyle/>
          <a:p>
            <a:pPr algn="r" indent="0" marL="0">
              <a:buNone/>
            </a:pPr>
            <a:r>
              <a:rPr lang="en-US" sz="1100" b="1" dirty="0">
                <a:solidFill>
                  <a:srgbClr val="F5F1E7"/>
                </a:solidFill>
                <a:latin typeface="Georgia" pitchFamily="34" charset="0"/>
                <a:ea typeface="Georgia" pitchFamily="34" charset="-122"/>
                <a:cs typeface="Georgia" pitchFamily="34" charset="-120"/>
              </a:rPr>
              <a:t>$459,000</a:t>
            </a:r>
            <a:endParaRPr lang="en-US" sz="1100" dirty="0"/>
          </a:p>
        </p:txBody>
      </p:sp>
      <p:sp>
        <p:nvSpPr>
          <p:cNvPr id="11" name="Shape 9"/>
          <p:cNvSpPr/>
          <p:nvPr/>
        </p:nvSpPr>
        <p:spPr>
          <a:xfrm>
            <a:off x="5623560" y="1554480"/>
            <a:ext cx="3017520" cy="585216"/>
          </a:xfrm>
          <a:prstGeom prst="rect">
            <a:avLst/>
          </a:prstGeom>
          <a:solidFill>
            <a:srgbClr val="241D16"/>
          </a:solidFill>
          <a:ln w="12700">
            <a:solidFill>
              <a:srgbClr val="A8641A"/>
            </a:solidFill>
            <a:prstDash val="solid"/>
          </a:ln>
        </p:spPr>
      </p:sp>
      <p:sp>
        <p:nvSpPr>
          <p:cNvPr id="12" name="Text 10"/>
          <p:cNvSpPr/>
          <p:nvPr/>
        </p:nvSpPr>
        <p:spPr>
          <a:xfrm>
            <a:off x="5760720" y="1618488"/>
            <a:ext cx="1737360" cy="182880"/>
          </a:xfrm>
          <a:prstGeom prst="rect">
            <a:avLst/>
          </a:prstGeom>
          <a:noFill/>
          <a:ln/>
        </p:spPr>
        <p:txBody>
          <a:bodyPr wrap="square" lIns="0" tIns="0" rIns="0" bIns="0" rtlCol="0" anchor="ctr"/>
          <a:lstStyle/>
          <a:p>
            <a:pPr indent="0" marL="0">
              <a:buNone/>
            </a:pPr>
            <a:r>
              <a:rPr lang="en-US" sz="800" b="1" spc="100" kern="0" dirty="0">
                <a:solidFill>
                  <a:srgbClr val="A8641A"/>
                </a:solidFill>
                <a:latin typeface="Calibri" pitchFamily="34" charset="0"/>
                <a:ea typeface="Calibri" pitchFamily="34" charset="-122"/>
                <a:cs typeface="Calibri" pitchFamily="34" charset="-120"/>
              </a:rPr>
              <a:t>DEBT — UNSECURED</a:t>
            </a:r>
            <a:endParaRPr lang="en-US" sz="800" dirty="0"/>
          </a:p>
        </p:txBody>
      </p:sp>
      <p:sp>
        <p:nvSpPr>
          <p:cNvPr id="13" name="Text 11"/>
          <p:cNvSpPr/>
          <p:nvPr/>
        </p:nvSpPr>
        <p:spPr>
          <a:xfrm>
            <a:off x="5760720" y="1810512"/>
            <a:ext cx="1783080" cy="256032"/>
          </a:xfrm>
          <a:prstGeom prst="rect">
            <a:avLst/>
          </a:prstGeom>
          <a:noFill/>
          <a:ln/>
        </p:spPr>
        <p:txBody>
          <a:bodyPr wrap="square" lIns="0" tIns="0" rIns="0" bIns="0" rtlCol="0" anchor="ctr"/>
          <a:lstStyle/>
          <a:p>
            <a:pPr indent="0" marL="0">
              <a:buNone/>
            </a:pPr>
            <a:r>
              <a:rPr lang="en-US" sz="900" dirty="0">
                <a:solidFill>
                  <a:srgbClr val="C9BFA8"/>
                </a:solidFill>
                <a:latin typeface="Calibri" pitchFamily="34" charset="0"/>
                <a:ea typeface="Calibri" pitchFamily="34" charset="-122"/>
                <a:cs typeface="Calibri" pitchFamily="34" charset="-120"/>
              </a:rPr>
              <a:t>held directly</a:t>
            </a:r>
            <a:endParaRPr lang="en-US" sz="900" dirty="0"/>
          </a:p>
        </p:txBody>
      </p:sp>
      <p:sp>
        <p:nvSpPr>
          <p:cNvPr id="14" name="Text 12"/>
          <p:cNvSpPr/>
          <p:nvPr/>
        </p:nvSpPr>
        <p:spPr>
          <a:xfrm>
            <a:off x="7589520" y="1719072"/>
            <a:ext cx="941832" cy="292608"/>
          </a:xfrm>
          <a:prstGeom prst="rect">
            <a:avLst/>
          </a:prstGeom>
          <a:noFill/>
          <a:ln/>
        </p:spPr>
        <p:txBody>
          <a:bodyPr wrap="square" lIns="0" tIns="0" rIns="0" bIns="0" rtlCol="0" anchor="ctr"/>
          <a:lstStyle/>
          <a:p>
            <a:pPr algn="r" indent="0" marL="0">
              <a:buNone/>
            </a:pPr>
            <a:r>
              <a:rPr lang="en-US" sz="1100" b="1" dirty="0">
                <a:solidFill>
                  <a:srgbClr val="F5F1E7"/>
                </a:solidFill>
                <a:latin typeface="Georgia" pitchFamily="34" charset="0"/>
                <a:ea typeface="Georgia" pitchFamily="34" charset="-122"/>
                <a:cs typeface="Georgia" pitchFamily="34" charset="-120"/>
              </a:rPr>
              <a:t>$2,000,000</a:t>
            </a:r>
            <a:endParaRPr lang="en-US" sz="1100" dirty="0"/>
          </a:p>
        </p:txBody>
      </p:sp>
      <p:sp>
        <p:nvSpPr>
          <p:cNvPr id="15" name="Shape 13"/>
          <p:cNvSpPr/>
          <p:nvPr/>
        </p:nvSpPr>
        <p:spPr>
          <a:xfrm>
            <a:off x="5623560" y="2267712"/>
            <a:ext cx="3017520" cy="585216"/>
          </a:xfrm>
          <a:prstGeom prst="rect">
            <a:avLst/>
          </a:prstGeom>
          <a:solidFill>
            <a:srgbClr val="241D16"/>
          </a:solidFill>
          <a:ln w="12700">
            <a:solidFill>
              <a:srgbClr val="9C2B1F"/>
            </a:solidFill>
            <a:prstDash val="solid"/>
          </a:ln>
        </p:spPr>
      </p:sp>
      <p:sp>
        <p:nvSpPr>
          <p:cNvPr id="16" name="Text 14"/>
          <p:cNvSpPr/>
          <p:nvPr/>
        </p:nvSpPr>
        <p:spPr>
          <a:xfrm>
            <a:off x="5760720" y="2331720"/>
            <a:ext cx="1737360" cy="182880"/>
          </a:xfrm>
          <a:prstGeom prst="rect">
            <a:avLst/>
          </a:prstGeom>
          <a:noFill/>
          <a:ln/>
        </p:spPr>
        <p:txBody>
          <a:bodyPr wrap="square" lIns="0" tIns="0" rIns="0" bIns="0" rtlCol="0" anchor="ctr"/>
          <a:lstStyle/>
          <a:p>
            <a:pPr indent="0" marL="0">
              <a:buNone/>
            </a:pPr>
            <a:r>
              <a:rPr lang="en-US" sz="800" b="1" spc="100" kern="0" dirty="0">
                <a:solidFill>
                  <a:srgbClr val="9C2B1F"/>
                </a:solidFill>
                <a:latin typeface="Calibri" pitchFamily="34" charset="0"/>
                <a:ea typeface="Calibri" pitchFamily="34" charset="-122"/>
                <a:cs typeface="Calibri" pitchFamily="34" charset="-120"/>
              </a:rPr>
              <a:t>GUARANTEE</a:t>
            </a:r>
            <a:endParaRPr lang="en-US" sz="800" dirty="0"/>
          </a:p>
        </p:txBody>
      </p:sp>
      <p:sp>
        <p:nvSpPr>
          <p:cNvPr id="17" name="Text 15"/>
          <p:cNvSpPr/>
          <p:nvPr/>
        </p:nvSpPr>
        <p:spPr>
          <a:xfrm>
            <a:off x="5760720" y="2523744"/>
            <a:ext cx="1783080" cy="256032"/>
          </a:xfrm>
          <a:prstGeom prst="rect">
            <a:avLst/>
          </a:prstGeom>
          <a:noFill/>
          <a:ln/>
        </p:spPr>
        <p:txBody>
          <a:bodyPr wrap="square" lIns="0" tIns="0" rIns="0" bIns="0" rtlCol="0" anchor="ctr"/>
          <a:lstStyle/>
          <a:p>
            <a:pPr indent="0" marL="0">
              <a:buNone/>
            </a:pPr>
            <a:r>
              <a:rPr lang="en-US" sz="900" dirty="0">
                <a:solidFill>
                  <a:srgbClr val="C9BFA8"/>
                </a:solidFill>
                <a:latin typeface="Calibri" pitchFamily="34" charset="0"/>
                <a:ea typeface="Calibri" pitchFamily="34" charset="-122"/>
                <a:cs typeface="Calibri" pitchFamily="34" charset="-120"/>
              </a:rPr>
              <a:t>written by Kestrel III</a:t>
            </a:r>
            <a:endParaRPr lang="en-US" sz="900" dirty="0"/>
          </a:p>
        </p:txBody>
      </p:sp>
      <p:sp>
        <p:nvSpPr>
          <p:cNvPr id="18" name="Text 16"/>
          <p:cNvSpPr/>
          <p:nvPr/>
        </p:nvSpPr>
        <p:spPr>
          <a:xfrm>
            <a:off x="7589520" y="2432304"/>
            <a:ext cx="941832" cy="292608"/>
          </a:xfrm>
          <a:prstGeom prst="rect">
            <a:avLst/>
          </a:prstGeom>
          <a:noFill/>
          <a:ln/>
        </p:spPr>
        <p:txBody>
          <a:bodyPr wrap="square" lIns="0" tIns="0" rIns="0" bIns="0" rtlCol="0" anchor="ctr"/>
          <a:lstStyle/>
          <a:p>
            <a:pPr algn="r" indent="0" marL="0">
              <a:buNone/>
            </a:pPr>
            <a:r>
              <a:rPr lang="en-US" sz="1100" b="1" dirty="0">
                <a:solidFill>
                  <a:srgbClr val="F5F1E7"/>
                </a:solidFill>
                <a:latin typeface="Georgia" pitchFamily="34" charset="0"/>
                <a:ea typeface="Georgia" pitchFamily="34" charset="-122"/>
                <a:cs typeface="Georgia" pitchFamily="34" charset="-120"/>
              </a:rPr>
              <a:t>same fund</a:t>
            </a:r>
            <a:endParaRPr lang="en-US" sz="1100" dirty="0"/>
          </a:p>
        </p:txBody>
      </p:sp>
      <p:sp>
        <p:nvSpPr>
          <p:cNvPr id="19" name="Shape 17"/>
          <p:cNvSpPr/>
          <p:nvPr/>
        </p:nvSpPr>
        <p:spPr>
          <a:xfrm>
            <a:off x="5623560" y="3035808"/>
            <a:ext cx="3017520" cy="658368"/>
          </a:xfrm>
          <a:prstGeom prst="rect">
            <a:avLst/>
          </a:prstGeom>
          <a:solidFill>
            <a:srgbClr val="9C2B1F"/>
          </a:solidFill>
          <a:ln/>
        </p:spPr>
      </p:sp>
      <p:sp>
        <p:nvSpPr>
          <p:cNvPr id="20" name="Text 18"/>
          <p:cNvSpPr/>
          <p:nvPr/>
        </p:nvSpPr>
        <p:spPr>
          <a:xfrm>
            <a:off x="5760720" y="3108960"/>
            <a:ext cx="2743200" cy="329184"/>
          </a:xfrm>
          <a:prstGeom prst="rect">
            <a:avLst/>
          </a:prstGeom>
          <a:noFill/>
          <a:ln/>
        </p:spPr>
        <p:txBody>
          <a:bodyPr wrap="square" lIns="0" tIns="0" rIns="0" bIns="0" rtlCol="0" anchor="ctr"/>
          <a:lstStyle/>
          <a:p>
            <a:pPr indent="0" marL="0">
              <a:buNone/>
            </a:pPr>
            <a:r>
              <a:rPr lang="en-US" sz="1900" b="1" dirty="0">
                <a:solidFill>
                  <a:srgbClr val="F5F1E7"/>
                </a:solidFill>
                <a:latin typeface="Georgia" pitchFamily="34" charset="0"/>
                <a:ea typeface="Georgia" pitchFamily="34" charset="-122"/>
                <a:cs typeface="Georgia" pitchFamily="34" charset="-120"/>
              </a:rPr>
              <a:t>$2,459,000</a:t>
            </a:r>
            <a:endParaRPr lang="en-US" sz="1900" dirty="0"/>
          </a:p>
        </p:txBody>
      </p:sp>
      <p:sp>
        <p:nvSpPr>
          <p:cNvPr id="21" name="Text 19"/>
          <p:cNvSpPr/>
          <p:nvPr/>
        </p:nvSpPr>
        <p:spPr>
          <a:xfrm>
            <a:off x="5760720" y="3419856"/>
            <a:ext cx="2743200" cy="201168"/>
          </a:xfrm>
          <a:prstGeom prst="rect">
            <a:avLst/>
          </a:prstGeom>
          <a:noFill/>
          <a:ln/>
        </p:spPr>
        <p:txBody>
          <a:bodyPr wrap="square" lIns="0" tIns="0" rIns="0" bIns="0" rtlCol="0" anchor="ctr"/>
          <a:lstStyle/>
          <a:p>
            <a:pPr indent="0" marL="0">
              <a:buNone/>
            </a:pPr>
            <a:r>
              <a:rPr lang="en-US" sz="850" dirty="0">
                <a:solidFill>
                  <a:srgbClr val="F0D9D2"/>
                </a:solidFill>
                <a:latin typeface="Calibri" pitchFamily="34" charset="0"/>
                <a:ea typeface="Calibri" pitchFamily="34" charset="-122"/>
                <a:cs typeface="Calibri" pitchFamily="34" charset="-120"/>
              </a:rPr>
              <a:t>total single-counterparty exposure</a:t>
            </a:r>
            <a:endParaRPr lang="en-US" sz="850" dirty="0"/>
          </a:p>
        </p:txBody>
      </p:sp>
      <p:sp>
        <p:nvSpPr>
          <p:cNvPr id="22" name="Text 20"/>
          <p:cNvSpPr/>
          <p:nvPr/>
        </p:nvSpPr>
        <p:spPr>
          <a:xfrm>
            <a:off x="502920" y="4686300"/>
            <a:ext cx="8138160" cy="274320"/>
          </a:xfrm>
          <a:prstGeom prst="rect">
            <a:avLst/>
          </a:prstGeom>
          <a:noFill/>
          <a:ln/>
        </p:spPr>
        <p:txBody>
          <a:bodyPr wrap="square" lIns="0" tIns="0" rIns="0" bIns="0" rtlCol="0" anchor="ctr"/>
          <a:lstStyle/>
          <a:p>
            <a:pPr indent="0" marL="0">
              <a:buNone/>
            </a:pPr>
            <a:r>
              <a:rPr lang="en-US" sz="900" i="1" dirty="0">
                <a:solidFill>
                  <a:srgbClr val="948A74"/>
                </a:solidFill>
                <a:latin typeface="Calibri" pitchFamily="34" charset="0"/>
                <a:ea typeface="Calibri" pitchFamily="34" charset="-122"/>
                <a:cs typeface="Calibri" pitchFamily="34" charset="-120"/>
              </a:rPr>
              <a:t>Split across two counterparties' documents — one disclosure buried on a second worksheet.</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1E7"/>
        </a:solidFill>
      </p:bgPr>
    </p:bg>
    <p:spTree>
      <p:nvGrpSpPr>
        <p:cNvPr id="1" name=""/>
        <p:cNvGrpSpPr/>
        <p:nvPr/>
      </p:nvGrpSpPr>
      <p:grpSpPr>
        <a:xfrm>
          <a:off x="0" y="0"/>
          <a:ext cx="0" cy="0"/>
          <a:chOff x="0" y="0"/>
          <a:chExt cx="0" cy="0"/>
        </a:xfrm>
      </p:grpSpPr>
      <p:sp>
        <p:nvSpPr>
          <p:cNvPr id="2" name="Shape 0"/>
          <p:cNvSpPr/>
          <p:nvPr/>
        </p:nvSpPr>
        <p:spPr>
          <a:xfrm>
            <a:off x="0" y="0"/>
            <a:ext cx="82296" cy="5143500"/>
          </a:xfrm>
          <a:prstGeom prst="rect">
            <a:avLst/>
          </a:prstGeom>
          <a:solidFill>
            <a:srgbClr val="9C2B1F"/>
          </a:solidFill>
          <a:ln/>
        </p:spPr>
      </p:sp>
      <p:sp>
        <p:nvSpPr>
          <p:cNvPr id="3" name="Text 1"/>
          <p:cNvSpPr/>
          <p:nvPr/>
        </p:nvSpPr>
        <p:spPr>
          <a:xfrm>
            <a:off x="502920" y="310896"/>
            <a:ext cx="8138160" cy="219456"/>
          </a:xfrm>
          <a:prstGeom prst="rect">
            <a:avLst/>
          </a:prstGeom>
          <a:noFill/>
          <a:ln/>
        </p:spPr>
        <p:txBody>
          <a:bodyPr wrap="square" lIns="0" tIns="0" rIns="0" bIns="0" rtlCol="0" anchor="ctr"/>
          <a:lstStyle/>
          <a:p>
            <a:pPr indent="0" marL="0">
              <a:buNone/>
            </a:pPr>
            <a:r>
              <a:rPr lang="en-US" sz="1050" b="1" spc="220" kern="0" dirty="0">
                <a:solidFill>
                  <a:srgbClr val="9C2B1F"/>
                </a:solidFill>
                <a:latin typeface="Calibri" pitchFamily="34" charset="0"/>
                <a:ea typeface="Calibri" pitchFamily="34" charset="-122"/>
                <a:cs typeface="Calibri" pitchFamily="34" charset="-120"/>
              </a:rPr>
              <a:t>THE PRODUCT</a:t>
            </a:r>
            <a:endParaRPr lang="en-US" sz="1050" dirty="0"/>
          </a:p>
        </p:txBody>
      </p:sp>
      <p:sp>
        <p:nvSpPr>
          <p:cNvPr id="4" name="Text 2"/>
          <p:cNvSpPr/>
          <p:nvPr/>
        </p:nvSpPr>
        <p:spPr>
          <a:xfrm>
            <a:off x="502920" y="566928"/>
            <a:ext cx="8138160" cy="749808"/>
          </a:xfrm>
          <a:prstGeom prst="rect">
            <a:avLst/>
          </a:prstGeom>
          <a:noFill/>
          <a:ln/>
        </p:spPr>
        <p:txBody>
          <a:bodyPr wrap="square" lIns="0" tIns="0" rIns="0" bIns="0" rtlCol="0" anchor="ctr"/>
          <a:lstStyle/>
          <a:p>
            <a:pPr indent="0" marL="0">
              <a:lnSpc>
                <a:spcPct val="94000"/>
              </a:lnSpc>
              <a:buNone/>
            </a:pPr>
            <a:r>
              <a:rPr lang="en-US" sz="2800" b="1" dirty="0">
                <a:solidFill>
                  <a:srgbClr val="19140F"/>
                </a:solidFill>
                <a:latin typeface="Georgia" pitchFamily="34" charset="0"/>
                <a:ea typeface="Georgia" pitchFamily="34" charset="-122"/>
                <a:cs typeface="Georgia" pitchFamily="34" charset="-120"/>
              </a:rPr>
              <a:t>Forward the statements you already receive</a:t>
            </a:r>
            <a:endParaRPr lang="en-US" sz="2800" dirty="0"/>
          </a:p>
        </p:txBody>
      </p:sp>
      <p:sp>
        <p:nvSpPr>
          <p:cNvPr id="5" name="Text 3"/>
          <p:cNvSpPr/>
          <p:nvPr/>
        </p:nvSpPr>
        <p:spPr>
          <a:xfrm>
            <a:off x="502920" y="1371600"/>
            <a:ext cx="7863840" cy="658368"/>
          </a:xfrm>
          <a:prstGeom prst="rect">
            <a:avLst/>
          </a:prstGeom>
          <a:noFill/>
          <a:ln/>
        </p:spPr>
        <p:txBody>
          <a:bodyPr wrap="square" lIns="0" tIns="0" rIns="0" bIns="0" rtlCol="0" anchor="ctr"/>
          <a:lstStyle/>
          <a:p>
            <a:pPr indent="0" marL="0">
              <a:lnSpc>
                <a:spcPct val="110000"/>
              </a:lnSpc>
              <a:buNone/>
            </a:pPr>
            <a:r>
              <a:rPr lang="en-US" sz="1250" dirty="0">
                <a:solidFill>
                  <a:srgbClr val="58503F"/>
                </a:solidFill>
                <a:latin typeface="Calibri" pitchFamily="34" charset="0"/>
                <a:ea typeface="Calibri" pitchFamily="34" charset="-122"/>
                <a:cs typeface="Calibri" pitchFamily="34" charset="-120"/>
              </a:rPr>
              <a:t>No migration, no onboarding project, no data-mapping engagement. Documents arrive in whatever format the counterparty sent them; the graph re-derives itself and every finding updates.</a:t>
            </a:r>
            <a:endParaRPr lang="en-US" sz="1250" dirty="0"/>
          </a:p>
        </p:txBody>
      </p:sp>
      <p:sp>
        <p:nvSpPr>
          <p:cNvPr id="6" name="Shape 4"/>
          <p:cNvSpPr/>
          <p:nvPr/>
        </p:nvSpPr>
        <p:spPr>
          <a:xfrm>
            <a:off x="502920" y="2103120"/>
            <a:ext cx="1234440" cy="877824"/>
          </a:xfrm>
          <a:prstGeom prst="rect">
            <a:avLst/>
          </a:prstGeom>
          <a:solidFill>
            <a:srgbClr val="FFFDF8"/>
          </a:solidFill>
          <a:ln w="12700">
            <a:solidFill>
              <a:srgbClr val="DDD2B8"/>
            </a:solidFill>
            <a:prstDash val="solid"/>
          </a:ln>
        </p:spPr>
      </p:sp>
      <p:sp>
        <p:nvSpPr>
          <p:cNvPr id="7" name="Text 5"/>
          <p:cNvSpPr/>
          <p:nvPr/>
        </p:nvSpPr>
        <p:spPr>
          <a:xfrm>
            <a:off x="557784" y="2212848"/>
            <a:ext cx="1124712" cy="658368"/>
          </a:xfrm>
          <a:prstGeom prst="rect">
            <a:avLst/>
          </a:prstGeom>
          <a:noFill/>
          <a:ln/>
        </p:spPr>
        <p:txBody>
          <a:bodyPr wrap="square" lIns="0" tIns="0" rIns="0" bIns="0" rtlCol="0" anchor="ctr"/>
          <a:lstStyle/>
          <a:p>
            <a:pPr algn="ctr" indent="0" marL="0">
              <a:lnSpc>
                <a:spcPct val="102000"/>
              </a:lnSpc>
              <a:buNone/>
            </a:pPr>
            <a:r>
              <a:rPr lang="en-US" sz="1050" b="1" dirty="0">
                <a:solidFill>
                  <a:srgbClr val="19140F"/>
                </a:solidFill>
                <a:latin typeface="Calibri" pitchFamily="34" charset="0"/>
                <a:ea typeface="Calibri" pitchFamily="34" charset="-122"/>
                <a:cs typeface="Calibri" pitchFamily="34" charset="-120"/>
              </a:rPr>
              <a:t>Upload</a:t>
            </a:r>
            <a:endParaRPr lang="en-US" sz="1050" dirty="0"/>
          </a:p>
          <a:p>
            <a:pPr algn="ctr" indent="0" marL="0">
              <a:lnSpc>
                <a:spcPct val="102000"/>
              </a:lnSpc>
              <a:buNone/>
            </a:pPr>
            <a:r>
              <a:rPr lang="en-US" sz="1050" b="1" dirty="0">
                <a:solidFill>
                  <a:srgbClr val="19140F"/>
                </a:solidFill>
                <a:latin typeface="Calibri" pitchFamily="34" charset="0"/>
                <a:ea typeface="Calibri" pitchFamily="34" charset="-122"/>
                <a:cs typeface="Calibri" pitchFamily="34" charset="-120"/>
              </a:rPr>
              <a:t>or email</a:t>
            </a:r>
            <a:endParaRPr lang="en-US" sz="1050" dirty="0"/>
          </a:p>
        </p:txBody>
      </p:sp>
      <p:sp>
        <p:nvSpPr>
          <p:cNvPr id="8" name="Text 6"/>
          <p:cNvSpPr/>
          <p:nvPr/>
        </p:nvSpPr>
        <p:spPr>
          <a:xfrm>
            <a:off x="1737360" y="2395728"/>
            <a:ext cx="146304" cy="274320"/>
          </a:xfrm>
          <a:prstGeom prst="rect">
            <a:avLst/>
          </a:prstGeom>
          <a:noFill/>
          <a:ln/>
        </p:spPr>
        <p:txBody>
          <a:bodyPr wrap="square" lIns="0" tIns="0" rIns="0" bIns="0" rtlCol="0" anchor="ctr"/>
          <a:lstStyle/>
          <a:p>
            <a:pPr algn="ctr" indent="0" marL="0">
              <a:buNone/>
            </a:pPr>
            <a:r>
              <a:rPr lang="en-US" sz="1200" dirty="0">
                <a:solidFill>
                  <a:srgbClr val="948A74"/>
                </a:solidFill>
                <a:latin typeface="Calibri" pitchFamily="34" charset="0"/>
                <a:ea typeface="Calibri" pitchFamily="34" charset="-122"/>
                <a:cs typeface="Calibri" pitchFamily="34" charset="-120"/>
              </a:rPr>
              <a:t>→</a:t>
            </a:r>
            <a:endParaRPr lang="en-US" sz="1200" dirty="0"/>
          </a:p>
        </p:txBody>
      </p:sp>
      <p:sp>
        <p:nvSpPr>
          <p:cNvPr id="9" name="Shape 7"/>
          <p:cNvSpPr/>
          <p:nvPr/>
        </p:nvSpPr>
        <p:spPr>
          <a:xfrm>
            <a:off x="1883664" y="2103120"/>
            <a:ext cx="1234440" cy="877824"/>
          </a:xfrm>
          <a:prstGeom prst="rect">
            <a:avLst/>
          </a:prstGeom>
          <a:solidFill>
            <a:srgbClr val="FFFDF8"/>
          </a:solidFill>
          <a:ln w="12700">
            <a:solidFill>
              <a:srgbClr val="DDD2B8"/>
            </a:solidFill>
            <a:prstDash val="solid"/>
          </a:ln>
        </p:spPr>
      </p:sp>
      <p:sp>
        <p:nvSpPr>
          <p:cNvPr id="10" name="Text 8"/>
          <p:cNvSpPr/>
          <p:nvPr/>
        </p:nvSpPr>
        <p:spPr>
          <a:xfrm>
            <a:off x="1938528" y="2212848"/>
            <a:ext cx="1124712" cy="658368"/>
          </a:xfrm>
          <a:prstGeom prst="rect">
            <a:avLst/>
          </a:prstGeom>
          <a:noFill/>
          <a:ln/>
        </p:spPr>
        <p:txBody>
          <a:bodyPr wrap="square" lIns="0" tIns="0" rIns="0" bIns="0" rtlCol="0" anchor="ctr"/>
          <a:lstStyle/>
          <a:p>
            <a:pPr algn="ctr" indent="0" marL="0">
              <a:lnSpc>
                <a:spcPct val="102000"/>
              </a:lnSpc>
              <a:buNone/>
            </a:pPr>
            <a:r>
              <a:rPr lang="en-US" sz="1050" b="1" dirty="0">
                <a:solidFill>
                  <a:srgbClr val="19140F"/>
                </a:solidFill>
                <a:latin typeface="Calibri" pitchFamily="34" charset="0"/>
                <a:ea typeface="Calibri" pitchFamily="34" charset="-122"/>
                <a:cs typeface="Calibri" pitchFamily="34" charset="-120"/>
              </a:rPr>
              <a:t>Extract</a:t>
            </a:r>
            <a:endParaRPr lang="en-US" sz="1050" dirty="0"/>
          </a:p>
          <a:p>
            <a:pPr algn="ctr" indent="0" marL="0">
              <a:lnSpc>
                <a:spcPct val="102000"/>
              </a:lnSpc>
              <a:buNone/>
            </a:pPr>
            <a:r>
              <a:rPr lang="en-US" sz="1050" b="1" dirty="0">
                <a:solidFill>
                  <a:srgbClr val="19140F"/>
                </a:solidFill>
                <a:latin typeface="Calibri" pitchFamily="34" charset="0"/>
                <a:ea typeface="Calibri" pitchFamily="34" charset="-122"/>
                <a:cs typeface="Calibri" pitchFamily="34" charset="-120"/>
              </a:rPr>
              <a:t>(LLM)</a:t>
            </a:r>
            <a:endParaRPr lang="en-US" sz="1050" dirty="0"/>
          </a:p>
        </p:txBody>
      </p:sp>
      <p:sp>
        <p:nvSpPr>
          <p:cNvPr id="11" name="Text 9"/>
          <p:cNvSpPr/>
          <p:nvPr/>
        </p:nvSpPr>
        <p:spPr>
          <a:xfrm>
            <a:off x="3118104" y="2395728"/>
            <a:ext cx="146304" cy="274320"/>
          </a:xfrm>
          <a:prstGeom prst="rect">
            <a:avLst/>
          </a:prstGeom>
          <a:noFill/>
          <a:ln/>
        </p:spPr>
        <p:txBody>
          <a:bodyPr wrap="square" lIns="0" tIns="0" rIns="0" bIns="0" rtlCol="0" anchor="ctr"/>
          <a:lstStyle/>
          <a:p>
            <a:pPr algn="ctr" indent="0" marL="0">
              <a:buNone/>
            </a:pPr>
            <a:r>
              <a:rPr lang="en-US" sz="1200" dirty="0">
                <a:solidFill>
                  <a:srgbClr val="948A74"/>
                </a:solidFill>
                <a:latin typeface="Calibri" pitchFamily="34" charset="0"/>
                <a:ea typeface="Calibri" pitchFamily="34" charset="-122"/>
                <a:cs typeface="Calibri" pitchFamily="34" charset="-120"/>
              </a:rPr>
              <a:t>→</a:t>
            </a:r>
            <a:endParaRPr lang="en-US" sz="1200" dirty="0"/>
          </a:p>
        </p:txBody>
      </p:sp>
      <p:sp>
        <p:nvSpPr>
          <p:cNvPr id="12" name="Shape 10"/>
          <p:cNvSpPr/>
          <p:nvPr/>
        </p:nvSpPr>
        <p:spPr>
          <a:xfrm>
            <a:off x="3264408" y="2103120"/>
            <a:ext cx="1234440" cy="877824"/>
          </a:xfrm>
          <a:prstGeom prst="rect">
            <a:avLst/>
          </a:prstGeom>
          <a:solidFill>
            <a:srgbClr val="9C2B1F"/>
          </a:solidFill>
          <a:ln w="12700">
            <a:solidFill>
              <a:srgbClr val="9C2B1F"/>
            </a:solidFill>
            <a:prstDash val="solid"/>
          </a:ln>
        </p:spPr>
      </p:sp>
      <p:sp>
        <p:nvSpPr>
          <p:cNvPr id="13" name="Text 11"/>
          <p:cNvSpPr/>
          <p:nvPr/>
        </p:nvSpPr>
        <p:spPr>
          <a:xfrm>
            <a:off x="3319272" y="2212848"/>
            <a:ext cx="1124712" cy="658368"/>
          </a:xfrm>
          <a:prstGeom prst="rect">
            <a:avLst/>
          </a:prstGeom>
          <a:noFill/>
          <a:ln/>
        </p:spPr>
        <p:txBody>
          <a:bodyPr wrap="square" lIns="0" tIns="0" rIns="0" bIns="0" rtlCol="0" anchor="ctr"/>
          <a:lstStyle/>
          <a:p>
            <a:pPr algn="ctr" indent="0" marL="0">
              <a:lnSpc>
                <a:spcPct val="102000"/>
              </a:lnSpc>
              <a:buNone/>
            </a:pPr>
            <a:r>
              <a:rPr lang="en-US" sz="1050" b="1" dirty="0">
                <a:solidFill>
                  <a:srgbClr val="F5F1E7"/>
                </a:solidFill>
                <a:latin typeface="Calibri" pitchFamily="34" charset="0"/>
                <a:ea typeface="Calibri" pitchFamily="34" charset="-122"/>
                <a:cs typeface="Calibri" pitchFamily="34" charset="-120"/>
              </a:rPr>
              <a:t>Resolve</a:t>
            </a:r>
            <a:endParaRPr lang="en-US" sz="1050" dirty="0"/>
          </a:p>
          <a:p>
            <a:pPr algn="ctr" indent="0" marL="0">
              <a:lnSpc>
                <a:spcPct val="102000"/>
              </a:lnSpc>
              <a:buNone/>
            </a:pPr>
            <a:r>
              <a:rPr lang="en-US" sz="1050" b="1" dirty="0">
                <a:solidFill>
                  <a:srgbClr val="F5F1E7"/>
                </a:solidFill>
                <a:latin typeface="Calibri" pitchFamily="34" charset="0"/>
                <a:ea typeface="Calibri" pitchFamily="34" charset="-122"/>
                <a:cs typeface="Calibri" pitchFamily="34" charset="-120"/>
              </a:rPr>
              <a:t>entities</a:t>
            </a:r>
            <a:endParaRPr lang="en-US" sz="1050" dirty="0"/>
          </a:p>
        </p:txBody>
      </p:sp>
      <p:sp>
        <p:nvSpPr>
          <p:cNvPr id="14" name="Text 12"/>
          <p:cNvSpPr/>
          <p:nvPr/>
        </p:nvSpPr>
        <p:spPr>
          <a:xfrm>
            <a:off x="4498848" y="2395728"/>
            <a:ext cx="146304" cy="274320"/>
          </a:xfrm>
          <a:prstGeom prst="rect">
            <a:avLst/>
          </a:prstGeom>
          <a:noFill/>
          <a:ln/>
        </p:spPr>
        <p:txBody>
          <a:bodyPr wrap="square" lIns="0" tIns="0" rIns="0" bIns="0" rtlCol="0" anchor="ctr"/>
          <a:lstStyle/>
          <a:p>
            <a:pPr algn="ctr" indent="0" marL="0">
              <a:buNone/>
            </a:pPr>
            <a:r>
              <a:rPr lang="en-US" sz="1200" dirty="0">
                <a:solidFill>
                  <a:srgbClr val="948A74"/>
                </a:solidFill>
                <a:latin typeface="Calibri" pitchFamily="34" charset="0"/>
                <a:ea typeface="Calibri" pitchFamily="34" charset="-122"/>
                <a:cs typeface="Calibri" pitchFamily="34" charset="-120"/>
              </a:rPr>
              <a:t>→</a:t>
            </a:r>
            <a:endParaRPr lang="en-US" sz="1200" dirty="0"/>
          </a:p>
        </p:txBody>
      </p:sp>
      <p:sp>
        <p:nvSpPr>
          <p:cNvPr id="15" name="Shape 13"/>
          <p:cNvSpPr/>
          <p:nvPr/>
        </p:nvSpPr>
        <p:spPr>
          <a:xfrm>
            <a:off x="4645152" y="2103120"/>
            <a:ext cx="1234440" cy="877824"/>
          </a:xfrm>
          <a:prstGeom prst="rect">
            <a:avLst/>
          </a:prstGeom>
          <a:solidFill>
            <a:srgbClr val="FFFDF8"/>
          </a:solidFill>
          <a:ln w="12700">
            <a:solidFill>
              <a:srgbClr val="DDD2B8"/>
            </a:solidFill>
            <a:prstDash val="solid"/>
          </a:ln>
        </p:spPr>
      </p:sp>
      <p:sp>
        <p:nvSpPr>
          <p:cNvPr id="16" name="Text 14"/>
          <p:cNvSpPr/>
          <p:nvPr/>
        </p:nvSpPr>
        <p:spPr>
          <a:xfrm>
            <a:off x="4700016" y="2212848"/>
            <a:ext cx="1124712" cy="658368"/>
          </a:xfrm>
          <a:prstGeom prst="rect">
            <a:avLst/>
          </a:prstGeom>
          <a:noFill/>
          <a:ln/>
        </p:spPr>
        <p:txBody>
          <a:bodyPr wrap="square" lIns="0" tIns="0" rIns="0" bIns="0" rtlCol="0" anchor="ctr"/>
          <a:lstStyle/>
          <a:p>
            <a:pPr algn="ctr" indent="0" marL="0">
              <a:lnSpc>
                <a:spcPct val="102000"/>
              </a:lnSpc>
              <a:buNone/>
            </a:pPr>
            <a:r>
              <a:rPr lang="en-US" sz="1050" b="1" dirty="0">
                <a:solidFill>
                  <a:srgbClr val="19140F"/>
                </a:solidFill>
                <a:latin typeface="Calibri" pitchFamily="34" charset="0"/>
                <a:ea typeface="Calibri" pitchFamily="34" charset="-122"/>
                <a:cs typeface="Calibri" pitchFamily="34" charset="-120"/>
              </a:rPr>
              <a:t>Typed</a:t>
            </a:r>
            <a:endParaRPr lang="en-US" sz="1050" dirty="0"/>
          </a:p>
          <a:p>
            <a:pPr algn="ctr" indent="0" marL="0">
              <a:lnSpc>
                <a:spcPct val="102000"/>
              </a:lnSpc>
              <a:buNone/>
            </a:pPr>
            <a:r>
              <a:rPr lang="en-US" sz="1050" b="1" dirty="0">
                <a:solidFill>
                  <a:srgbClr val="19140F"/>
                </a:solidFill>
                <a:latin typeface="Calibri" pitchFamily="34" charset="0"/>
                <a:ea typeface="Calibri" pitchFamily="34" charset="-122"/>
                <a:cs typeface="Calibri" pitchFamily="34" charset="-120"/>
              </a:rPr>
              <a:t>graph</a:t>
            </a:r>
            <a:endParaRPr lang="en-US" sz="1050" dirty="0"/>
          </a:p>
        </p:txBody>
      </p:sp>
      <p:sp>
        <p:nvSpPr>
          <p:cNvPr id="17" name="Text 15"/>
          <p:cNvSpPr/>
          <p:nvPr/>
        </p:nvSpPr>
        <p:spPr>
          <a:xfrm>
            <a:off x="5879592" y="2395728"/>
            <a:ext cx="146304" cy="274320"/>
          </a:xfrm>
          <a:prstGeom prst="rect">
            <a:avLst/>
          </a:prstGeom>
          <a:noFill/>
          <a:ln/>
        </p:spPr>
        <p:txBody>
          <a:bodyPr wrap="square" lIns="0" tIns="0" rIns="0" bIns="0" rtlCol="0" anchor="ctr"/>
          <a:lstStyle/>
          <a:p>
            <a:pPr algn="ctr" indent="0" marL="0">
              <a:buNone/>
            </a:pPr>
            <a:r>
              <a:rPr lang="en-US" sz="1200" dirty="0">
                <a:solidFill>
                  <a:srgbClr val="948A74"/>
                </a:solidFill>
                <a:latin typeface="Calibri" pitchFamily="34" charset="0"/>
                <a:ea typeface="Calibri" pitchFamily="34" charset="-122"/>
                <a:cs typeface="Calibri" pitchFamily="34" charset="-120"/>
              </a:rPr>
              <a:t>→</a:t>
            </a:r>
            <a:endParaRPr lang="en-US" sz="1200" dirty="0"/>
          </a:p>
        </p:txBody>
      </p:sp>
      <p:sp>
        <p:nvSpPr>
          <p:cNvPr id="18" name="Shape 16"/>
          <p:cNvSpPr/>
          <p:nvPr/>
        </p:nvSpPr>
        <p:spPr>
          <a:xfrm>
            <a:off x="6025896" y="2103120"/>
            <a:ext cx="1234440" cy="877824"/>
          </a:xfrm>
          <a:prstGeom prst="rect">
            <a:avLst/>
          </a:prstGeom>
          <a:solidFill>
            <a:srgbClr val="FFFDF8"/>
          </a:solidFill>
          <a:ln w="12700">
            <a:solidFill>
              <a:srgbClr val="DDD2B8"/>
            </a:solidFill>
            <a:prstDash val="solid"/>
          </a:ln>
        </p:spPr>
      </p:sp>
      <p:sp>
        <p:nvSpPr>
          <p:cNvPr id="19" name="Text 17"/>
          <p:cNvSpPr/>
          <p:nvPr/>
        </p:nvSpPr>
        <p:spPr>
          <a:xfrm>
            <a:off x="6080760" y="2212848"/>
            <a:ext cx="1124712" cy="658368"/>
          </a:xfrm>
          <a:prstGeom prst="rect">
            <a:avLst/>
          </a:prstGeom>
          <a:noFill/>
          <a:ln/>
        </p:spPr>
        <p:txBody>
          <a:bodyPr wrap="square" lIns="0" tIns="0" rIns="0" bIns="0" rtlCol="0" anchor="ctr"/>
          <a:lstStyle/>
          <a:p>
            <a:pPr algn="ctr" indent="0" marL="0">
              <a:lnSpc>
                <a:spcPct val="102000"/>
              </a:lnSpc>
              <a:buNone/>
            </a:pPr>
            <a:r>
              <a:rPr lang="en-US" sz="1050" b="1" dirty="0">
                <a:solidFill>
                  <a:srgbClr val="19140F"/>
                </a:solidFill>
                <a:latin typeface="Calibri" pitchFamily="34" charset="0"/>
                <a:ea typeface="Calibri" pitchFamily="34" charset="-122"/>
                <a:cs typeface="Calibri" pitchFamily="34" charset="-120"/>
              </a:rPr>
              <a:t>Traverse</a:t>
            </a:r>
            <a:endParaRPr lang="en-US" sz="1050" dirty="0"/>
          </a:p>
          <a:p>
            <a:pPr algn="ctr" indent="0" marL="0">
              <a:lnSpc>
                <a:spcPct val="102000"/>
              </a:lnSpc>
              <a:buNone/>
            </a:pPr>
            <a:r>
              <a:rPr lang="en-US" sz="1050" b="1" dirty="0">
                <a:solidFill>
                  <a:srgbClr val="19140F"/>
                </a:solidFill>
                <a:latin typeface="Calibri" pitchFamily="34" charset="0"/>
                <a:ea typeface="Calibri" pitchFamily="34" charset="-122"/>
                <a:cs typeface="Calibri" pitchFamily="34" charset="-120"/>
              </a:rPr>
              <a:t>paths</a:t>
            </a:r>
            <a:endParaRPr lang="en-US" sz="1050" dirty="0"/>
          </a:p>
        </p:txBody>
      </p:sp>
      <p:sp>
        <p:nvSpPr>
          <p:cNvPr id="20" name="Text 18"/>
          <p:cNvSpPr/>
          <p:nvPr/>
        </p:nvSpPr>
        <p:spPr>
          <a:xfrm>
            <a:off x="7260336" y="2395728"/>
            <a:ext cx="146304" cy="274320"/>
          </a:xfrm>
          <a:prstGeom prst="rect">
            <a:avLst/>
          </a:prstGeom>
          <a:noFill/>
          <a:ln/>
        </p:spPr>
        <p:txBody>
          <a:bodyPr wrap="square" lIns="0" tIns="0" rIns="0" bIns="0" rtlCol="0" anchor="ctr"/>
          <a:lstStyle/>
          <a:p>
            <a:pPr algn="ctr" indent="0" marL="0">
              <a:buNone/>
            </a:pPr>
            <a:r>
              <a:rPr lang="en-US" sz="1200" dirty="0">
                <a:solidFill>
                  <a:srgbClr val="948A74"/>
                </a:solidFill>
                <a:latin typeface="Calibri" pitchFamily="34" charset="0"/>
                <a:ea typeface="Calibri" pitchFamily="34" charset="-122"/>
                <a:cs typeface="Calibri" pitchFamily="34" charset="-120"/>
              </a:rPr>
              <a:t>→</a:t>
            </a:r>
            <a:endParaRPr lang="en-US" sz="1200" dirty="0"/>
          </a:p>
        </p:txBody>
      </p:sp>
      <p:sp>
        <p:nvSpPr>
          <p:cNvPr id="21" name="Shape 19"/>
          <p:cNvSpPr/>
          <p:nvPr/>
        </p:nvSpPr>
        <p:spPr>
          <a:xfrm>
            <a:off x="7406640" y="2103120"/>
            <a:ext cx="1234440" cy="877824"/>
          </a:xfrm>
          <a:prstGeom prst="rect">
            <a:avLst/>
          </a:prstGeom>
          <a:solidFill>
            <a:srgbClr val="FFFDF8"/>
          </a:solidFill>
          <a:ln w="12700">
            <a:solidFill>
              <a:srgbClr val="DDD2B8"/>
            </a:solidFill>
            <a:prstDash val="solid"/>
          </a:ln>
        </p:spPr>
      </p:sp>
      <p:sp>
        <p:nvSpPr>
          <p:cNvPr id="22" name="Text 20"/>
          <p:cNvSpPr/>
          <p:nvPr/>
        </p:nvSpPr>
        <p:spPr>
          <a:xfrm>
            <a:off x="7461504" y="2212848"/>
            <a:ext cx="1124712" cy="658368"/>
          </a:xfrm>
          <a:prstGeom prst="rect">
            <a:avLst/>
          </a:prstGeom>
          <a:noFill/>
          <a:ln/>
        </p:spPr>
        <p:txBody>
          <a:bodyPr wrap="square" lIns="0" tIns="0" rIns="0" bIns="0" rtlCol="0" anchor="ctr"/>
          <a:lstStyle/>
          <a:p>
            <a:pPr algn="ctr" indent="0" marL="0">
              <a:lnSpc>
                <a:spcPct val="102000"/>
              </a:lnSpc>
              <a:buNone/>
            </a:pPr>
            <a:r>
              <a:rPr lang="en-US" sz="1050" b="1" dirty="0">
                <a:solidFill>
                  <a:srgbClr val="19140F"/>
                </a:solidFill>
                <a:latin typeface="Calibri" pitchFamily="34" charset="0"/>
                <a:ea typeface="Calibri" pitchFamily="34" charset="-122"/>
                <a:cs typeface="Calibri" pitchFamily="34" charset="-120"/>
              </a:rPr>
              <a:t>Findings</a:t>
            </a:r>
            <a:endParaRPr lang="en-US" sz="1050" dirty="0"/>
          </a:p>
          <a:p>
            <a:pPr algn="ctr" indent="0" marL="0">
              <a:lnSpc>
                <a:spcPct val="102000"/>
              </a:lnSpc>
              <a:buNone/>
            </a:pPr>
            <a:r>
              <a:rPr lang="en-US" sz="1050" b="1" dirty="0">
                <a:solidFill>
                  <a:srgbClr val="19140F"/>
                </a:solidFill>
                <a:latin typeface="Calibri" pitchFamily="34" charset="0"/>
                <a:ea typeface="Calibri" pitchFamily="34" charset="-122"/>
                <a:cs typeface="Calibri" pitchFamily="34" charset="-120"/>
              </a:rPr>
              <a:t>+ alerts</a:t>
            </a:r>
            <a:endParaRPr lang="en-US" sz="1050" dirty="0"/>
          </a:p>
        </p:txBody>
      </p:sp>
      <p:sp>
        <p:nvSpPr>
          <p:cNvPr id="23" name="Text 21"/>
          <p:cNvSpPr/>
          <p:nvPr/>
        </p:nvSpPr>
        <p:spPr>
          <a:xfrm>
            <a:off x="502920" y="3072384"/>
            <a:ext cx="7863840" cy="274320"/>
          </a:xfrm>
          <a:prstGeom prst="rect">
            <a:avLst/>
          </a:prstGeom>
          <a:noFill/>
          <a:ln/>
        </p:spPr>
        <p:txBody>
          <a:bodyPr wrap="square" lIns="0" tIns="0" rIns="0" bIns="0" rtlCol="0" anchor="ctr"/>
          <a:lstStyle/>
          <a:p>
            <a:pPr indent="0" marL="0">
              <a:buNone/>
            </a:pPr>
            <a:r>
              <a:rPr lang="en-US" sz="1000" i="1" dirty="0">
                <a:solidFill>
                  <a:srgbClr val="9C2B1F"/>
                </a:solidFill>
                <a:latin typeface="Calibri" pitchFamily="34" charset="0"/>
                <a:ea typeface="Calibri" pitchFamily="34" charset="-122"/>
                <a:cs typeface="Calibri" pitchFamily="34" charset="-120"/>
              </a:rPr>
              <a:t>Entity resolution is the critical path — if two spellings of one company don't merge, every finding evaporates.</a:t>
            </a:r>
            <a:endParaRPr lang="en-US" sz="1000" dirty="0"/>
          </a:p>
        </p:txBody>
      </p:sp>
      <p:sp>
        <p:nvSpPr>
          <p:cNvPr id="24" name="Shape 22"/>
          <p:cNvSpPr/>
          <p:nvPr/>
        </p:nvSpPr>
        <p:spPr>
          <a:xfrm>
            <a:off x="502920" y="3529584"/>
            <a:ext cx="2514600" cy="640080"/>
          </a:xfrm>
          <a:prstGeom prst="rect">
            <a:avLst/>
          </a:prstGeom>
          <a:solidFill>
            <a:srgbClr val="FFFDF8"/>
          </a:solidFill>
          <a:ln w="12700">
            <a:solidFill>
              <a:srgbClr val="DDD2B8"/>
            </a:solidFill>
            <a:prstDash val="solid"/>
          </a:ln>
        </p:spPr>
      </p:sp>
      <p:sp>
        <p:nvSpPr>
          <p:cNvPr id="25" name="Text 23"/>
          <p:cNvSpPr/>
          <p:nvPr/>
        </p:nvSpPr>
        <p:spPr>
          <a:xfrm>
            <a:off x="630936" y="3602736"/>
            <a:ext cx="914400" cy="292608"/>
          </a:xfrm>
          <a:prstGeom prst="rect">
            <a:avLst/>
          </a:prstGeom>
          <a:noFill/>
          <a:ln/>
        </p:spPr>
        <p:txBody>
          <a:bodyPr wrap="square" lIns="0" tIns="0" rIns="0" bIns="0" rtlCol="0" anchor="ctr"/>
          <a:lstStyle/>
          <a:p>
            <a:pPr indent="0" marL="0">
              <a:buNone/>
            </a:pPr>
            <a:r>
              <a:rPr lang="en-US" sz="1600" b="1" dirty="0">
                <a:solidFill>
                  <a:srgbClr val="9C2B1F"/>
                </a:solidFill>
                <a:latin typeface="Georgia" pitchFamily="34" charset="0"/>
                <a:ea typeface="Georgia" pitchFamily="34" charset="-122"/>
                <a:cs typeface="Georgia" pitchFamily="34" charset="-120"/>
              </a:rPr>
              <a:t>Live</a:t>
            </a:r>
            <a:endParaRPr lang="en-US" sz="1600" dirty="0"/>
          </a:p>
        </p:txBody>
      </p:sp>
      <p:sp>
        <p:nvSpPr>
          <p:cNvPr id="26" name="Text 24"/>
          <p:cNvSpPr/>
          <p:nvPr/>
        </p:nvSpPr>
        <p:spPr>
          <a:xfrm>
            <a:off x="630936" y="3877056"/>
            <a:ext cx="2286000" cy="237744"/>
          </a:xfrm>
          <a:prstGeom prst="rect">
            <a:avLst/>
          </a:prstGeom>
          <a:noFill/>
          <a:ln/>
        </p:spPr>
        <p:txBody>
          <a:bodyPr wrap="square" lIns="0" tIns="0" rIns="0" bIns="0" rtlCol="0" anchor="ctr"/>
          <a:lstStyle/>
          <a:p>
            <a:pPr indent="0" marL="0">
              <a:buNone/>
            </a:pPr>
            <a:r>
              <a:rPr lang="en-US" sz="950" dirty="0">
                <a:solidFill>
                  <a:srgbClr val="58503F"/>
                </a:solidFill>
                <a:latin typeface="Calibri" pitchFamily="34" charset="0"/>
                <a:ea typeface="Calibri" pitchFamily="34" charset="-122"/>
                <a:cs typeface="Calibri" pitchFamily="34" charset="-120"/>
              </a:rPr>
              <a:t>deployed and ingesting</a:t>
            </a:r>
            <a:endParaRPr lang="en-US" sz="950" dirty="0"/>
          </a:p>
        </p:txBody>
      </p:sp>
      <p:sp>
        <p:nvSpPr>
          <p:cNvPr id="27" name="Shape 25"/>
          <p:cNvSpPr/>
          <p:nvPr/>
        </p:nvSpPr>
        <p:spPr>
          <a:xfrm>
            <a:off x="3200400" y="3529584"/>
            <a:ext cx="2514600" cy="640080"/>
          </a:xfrm>
          <a:prstGeom prst="rect">
            <a:avLst/>
          </a:prstGeom>
          <a:solidFill>
            <a:srgbClr val="FFFDF8"/>
          </a:solidFill>
          <a:ln w="12700">
            <a:solidFill>
              <a:srgbClr val="DDD2B8"/>
            </a:solidFill>
            <a:prstDash val="solid"/>
          </a:ln>
        </p:spPr>
      </p:sp>
      <p:sp>
        <p:nvSpPr>
          <p:cNvPr id="28" name="Text 26"/>
          <p:cNvSpPr/>
          <p:nvPr/>
        </p:nvSpPr>
        <p:spPr>
          <a:xfrm>
            <a:off x="3328416" y="3602736"/>
            <a:ext cx="914400" cy="292608"/>
          </a:xfrm>
          <a:prstGeom prst="rect">
            <a:avLst/>
          </a:prstGeom>
          <a:noFill/>
          <a:ln/>
        </p:spPr>
        <p:txBody>
          <a:bodyPr wrap="square" lIns="0" tIns="0" rIns="0" bIns="0" rtlCol="0" anchor="ctr"/>
          <a:lstStyle/>
          <a:p>
            <a:pPr indent="0" marL="0">
              <a:buNone/>
            </a:pPr>
            <a:r>
              <a:rPr lang="en-US" sz="1600" b="1" dirty="0">
                <a:solidFill>
                  <a:srgbClr val="9C2B1F"/>
                </a:solidFill>
                <a:latin typeface="Georgia" pitchFamily="34" charset="0"/>
                <a:ea typeface="Georgia" pitchFamily="34" charset="-122"/>
                <a:cs typeface="Georgia" pitchFamily="34" charset="-120"/>
              </a:rPr>
              <a:t>14s</a:t>
            </a:r>
            <a:endParaRPr lang="en-US" sz="1600" dirty="0"/>
          </a:p>
        </p:txBody>
      </p:sp>
      <p:sp>
        <p:nvSpPr>
          <p:cNvPr id="29" name="Text 27"/>
          <p:cNvSpPr/>
          <p:nvPr/>
        </p:nvSpPr>
        <p:spPr>
          <a:xfrm>
            <a:off x="3328416" y="3877056"/>
            <a:ext cx="2286000" cy="237744"/>
          </a:xfrm>
          <a:prstGeom prst="rect">
            <a:avLst/>
          </a:prstGeom>
          <a:noFill/>
          <a:ln/>
        </p:spPr>
        <p:txBody>
          <a:bodyPr wrap="square" lIns="0" tIns="0" rIns="0" bIns="0" rtlCol="0" anchor="ctr"/>
          <a:lstStyle/>
          <a:p>
            <a:pPr indent="0" marL="0">
              <a:buNone/>
            </a:pPr>
            <a:r>
              <a:rPr lang="en-US" sz="950" dirty="0">
                <a:solidFill>
                  <a:srgbClr val="58503F"/>
                </a:solidFill>
                <a:latin typeface="Calibri" pitchFamily="34" charset="0"/>
                <a:ea typeface="Calibri" pitchFamily="34" charset="-122"/>
                <a:cs typeface="Calibri" pitchFamily="34" charset="-120"/>
              </a:rPr>
              <a:t>document to updated finding</a:t>
            </a:r>
            <a:endParaRPr lang="en-US" sz="950" dirty="0"/>
          </a:p>
        </p:txBody>
      </p:sp>
      <p:sp>
        <p:nvSpPr>
          <p:cNvPr id="30" name="Shape 28"/>
          <p:cNvSpPr/>
          <p:nvPr/>
        </p:nvSpPr>
        <p:spPr>
          <a:xfrm>
            <a:off x="5897880" y="3529584"/>
            <a:ext cx="2514600" cy="640080"/>
          </a:xfrm>
          <a:prstGeom prst="rect">
            <a:avLst/>
          </a:prstGeom>
          <a:solidFill>
            <a:srgbClr val="FFFDF8"/>
          </a:solidFill>
          <a:ln w="12700">
            <a:solidFill>
              <a:srgbClr val="DDD2B8"/>
            </a:solidFill>
            <a:prstDash val="solid"/>
          </a:ln>
        </p:spPr>
      </p:sp>
      <p:sp>
        <p:nvSpPr>
          <p:cNvPr id="31" name="Text 29"/>
          <p:cNvSpPr/>
          <p:nvPr/>
        </p:nvSpPr>
        <p:spPr>
          <a:xfrm>
            <a:off x="6025896" y="3602736"/>
            <a:ext cx="914400" cy="292608"/>
          </a:xfrm>
          <a:prstGeom prst="rect">
            <a:avLst/>
          </a:prstGeom>
          <a:noFill/>
          <a:ln/>
        </p:spPr>
        <p:txBody>
          <a:bodyPr wrap="square" lIns="0" tIns="0" rIns="0" bIns="0" rtlCol="0" anchor="ctr"/>
          <a:lstStyle/>
          <a:p>
            <a:pPr indent="0" marL="0">
              <a:buNone/>
            </a:pPr>
            <a:r>
              <a:rPr lang="en-US" sz="1600" b="1" dirty="0">
                <a:solidFill>
                  <a:srgbClr val="9C2B1F"/>
                </a:solidFill>
                <a:latin typeface="Georgia" pitchFamily="34" charset="0"/>
                <a:ea typeface="Georgia" pitchFamily="34" charset="-122"/>
                <a:cs typeface="Georgia" pitchFamily="34" charset="-120"/>
              </a:rPr>
              <a:t>3</a:t>
            </a:r>
            <a:endParaRPr lang="en-US" sz="1600" dirty="0"/>
          </a:p>
        </p:txBody>
      </p:sp>
      <p:sp>
        <p:nvSpPr>
          <p:cNvPr id="32" name="Text 30"/>
          <p:cNvSpPr/>
          <p:nvPr/>
        </p:nvSpPr>
        <p:spPr>
          <a:xfrm>
            <a:off x="6025896" y="3877056"/>
            <a:ext cx="2286000" cy="237744"/>
          </a:xfrm>
          <a:prstGeom prst="rect">
            <a:avLst/>
          </a:prstGeom>
          <a:noFill/>
          <a:ln/>
        </p:spPr>
        <p:txBody>
          <a:bodyPr wrap="square" lIns="0" tIns="0" rIns="0" bIns="0" rtlCol="0" anchor="ctr"/>
          <a:lstStyle/>
          <a:p>
            <a:pPr indent="0" marL="0">
              <a:buNone/>
            </a:pPr>
            <a:r>
              <a:rPr lang="en-US" sz="950" dirty="0">
                <a:solidFill>
                  <a:srgbClr val="58503F"/>
                </a:solidFill>
                <a:latin typeface="Calibri" pitchFamily="34" charset="0"/>
                <a:ea typeface="Calibri" pitchFamily="34" charset="-122"/>
                <a:cs typeface="Calibri" pitchFamily="34" charset="-120"/>
              </a:rPr>
              <a:t>findings derived, none hardcoded</a:t>
            </a:r>
            <a:endParaRPr lang="en-US" sz="950" dirty="0"/>
          </a:p>
        </p:txBody>
      </p:sp>
      <p:sp>
        <p:nvSpPr>
          <p:cNvPr id="33" name="Text 31"/>
          <p:cNvSpPr/>
          <p:nvPr/>
        </p:nvSpPr>
        <p:spPr>
          <a:xfrm>
            <a:off x="502920" y="4722876"/>
            <a:ext cx="8138160" cy="274320"/>
          </a:xfrm>
          <a:prstGeom prst="rect">
            <a:avLst/>
          </a:prstGeom>
          <a:noFill/>
          <a:ln/>
        </p:spPr>
        <p:txBody>
          <a:bodyPr wrap="square" lIns="0" tIns="0" rIns="0" bIns="0" rtlCol="0" anchor="ctr"/>
          <a:lstStyle/>
          <a:p>
            <a:pPr indent="0" marL="0">
              <a:buNone/>
            </a:pPr>
            <a:r>
              <a:rPr lang="en-US" sz="900" i="1" dirty="0">
                <a:solidFill>
                  <a:srgbClr val="948A74"/>
                </a:solidFill>
                <a:latin typeface="Calibri" pitchFamily="34" charset="0"/>
                <a:ea typeface="Calibri" pitchFamily="34" charset="-122"/>
                <a:cs typeface="Calibri" pitchFamily="34" charset="-120"/>
              </a:rPr>
              <a:t>Measured on the live deployment: a previously unseen loan schedule ingested, entity-resolved, and surfaced as a new finding in 14 seconds.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1E7"/>
        </a:solidFill>
      </p:bgPr>
    </p:bg>
    <p:spTree>
      <p:nvGrpSpPr>
        <p:cNvPr id="1" name=""/>
        <p:cNvGrpSpPr/>
        <p:nvPr/>
      </p:nvGrpSpPr>
      <p:grpSpPr>
        <a:xfrm>
          <a:off x="0" y="0"/>
          <a:ext cx="0" cy="0"/>
          <a:chOff x="0" y="0"/>
          <a:chExt cx="0" cy="0"/>
        </a:xfrm>
      </p:grpSpPr>
      <p:sp>
        <p:nvSpPr>
          <p:cNvPr id="2" name="Shape 0"/>
          <p:cNvSpPr/>
          <p:nvPr/>
        </p:nvSpPr>
        <p:spPr>
          <a:xfrm>
            <a:off x="0" y="0"/>
            <a:ext cx="82296" cy="5143500"/>
          </a:xfrm>
          <a:prstGeom prst="rect">
            <a:avLst/>
          </a:prstGeom>
          <a:solidFill>
            <a:srgbClr val="9C2B1F"/>
          </a:solidFill>
          <a:ln/>
        </p:spPr>
      </p:sp>
      <p:sp>
        <p:nvSpPr>
          <p:cNvPr id="3" name="Text 1"/>
          <p:cNvSpPr/>
          <p:nvPr/>
        </p:nvSpPr>
        <p:spPr>
          <a:xfrm>
            <a:off x="502920" y="310896"/>
            <a:ext cx="8138160" cy="219456"/>
          </a:xfrm>
          <a:prstGeom prst="rect">
            <a:avLst/>
          </a:prstGeom>
          <a:noFill/>
          <a:ln/>
        </p:spPr>
        <p:txBody>
          <a:bodyPr wrap="square" lIns="0" tIns="0" rIns="0" bIns="0" rtlCol="0" anchor="ctr"/>
          <a:lstStyle/>
          <a:p>
            <a:pPr indent="0" marL="0">
              <a:buNone/>
            </a:pPr>
            <a:r>
              <a:rPr lang="en-US" sz="1050" b="1" spc="220" kern="0" dirty="0">
                <a:solidFill>
                  <a:srgbClr val="9C2B1F"/>
                </a:solidFill>
                <a:latin typeface="Calibri" pitchFamily="34" charset="0"/>
                <a:ea typeface="Calibri" pitchFamily="34" charset="-122"/>
                <a:cs typeface="Calibri" pitchFamily="34" charset="-120"/>
              </a:rPr>
              <a:t>THE ARCHITECTURAL BET</a:t>
            </a:r>
            <a:endParaRPr lang="en-US" sz="1050" dirty="0"/>
          </a:p>
        </p:txBody>
      </p:sp>
      <p:sp>
        <p:nvSpPr>
          <p:cNvPr id="4" name="Text 2"/>
          <p:cNvSpPr/>
          <p:nvPr/>
        </p:nvSpPr>
        <p:spPr>
          <a:xfrm>
            <a:off x="502920" y="566928"/>
            <a:ext cx="8138160" cy="749808"/>
          </a:xfrm>
          <a:prstGeom prst="rect">
            <a:avLst/>
          </a:prstGeom>
          <a:noFill/>
          <a:ln/>
        </p:spPr>
        <p:txBody>
          <a:bodyPr wrap="square" lIns="0" tIns="0" rIns="0" bIns="0" rtlCol="0" anchor="ctr"/>
          <a:lstStyle/>
          <a:p>
            <a:pPr indent="0" marL="0">
              <a:lnSpc>
                <a:spcPct val="94000"/>
              </a:lnSpc>
              <a:buNone/>
            </a:pPr>
            <a:r>
              <a:rPr lang="en-US" sz="2800" b="1" dirty="0">
                <a:solidFill>
                  <a:srgbClr val="19140F"/>
                </a:solidFill>
                <a:latin typeface="Georgia" pitchFamily="34" charset="0"/>
                <a:ea typeface="Georgia" pitchFamily="34" charset="-122"/>
                <a:cs typeface="Georgia" pitchFamily="34" charset="-120"/>
              </a:rPr>
              <a:t>One typed edge table is the whole moat</a:t>
            </a:r>
            <a:endParaRPr lang="en-US" sz="2800" dirty="0"/>
          </a:p>
        </p:txBody>
      </p:sp>
      <p:sp>
        <p:nvSpPr>
          <p:cNvPr id="5" name="Shape 3"/>
          <p:cNvSpPr/>
          <p:nvPr/>
        </p:nvSpPr>
        <p:spPr>
          <a:xfrm>
            <a:off x="502920" y="1426464"/>
            <a:ext cx="3913632" cy="2340864"/>
          </a:xfrm>
          <a:prstGeom prst="rect">
            <a:avLst/>
          </a:prstGeom>
          <a:solidFill>
            <a:srgbClr val="FFFDF8"/>
          </a:solidFill>
          <a:ln w="12700">
            <a:solidFill>
              <a:srgbClr val="DDD2B8"/>
            </a:solidFill>
            <a:prstDash val="solid"/>
          </a:ln>
        </p:spPr>
      </p:sp>
      <p:sp>
        <p:nvSpPr>
          <p:cNvPr id="6" name="Text 4"/>
          <p:cNvSpPr/>
          <p:nvPr/>
        </p:nvSpPr>
        <p:spPr>
          <a:xfrm>
            <a:off x="667512" y="1554480"/>
            <a:ext cx="3566160" cy="219456"/>
          </a:xfrm>
          <a:prstGeom prst="rect">
            <a:avLst/>
          </a:prstGeom>
          <a:noFill/>
          <a:ln/>
        </p:spPr>
        <p:txBody>
          <a:bodyPr wrap="square" lIns="0" tIns="0" rIns="0" bIns="0" rtlCol="0" anchor="ctr"/>
          <a:lstStyle/>
          <a:p>
            <a:pPr indent="0" marL="0">
              <a:buNone/>
            </a:pPr>
            <a:r>
              <a:rPr lang="en-US" sz="900" b="1" spc="120" kern="0" dirty="0">
                <a:solidFill>
                  <a:srgbClr val="948A74"/>
                </a:solidFill>
                <a:latin typeface="Calibri" pitchFamily="34" charset="0"/>
                <a:ea typeface="Calibri" pitchFamily="34" charset="-122"/>
                <a:cs typeface="Calibri" pitchFamily="34" charset="-120"/>
              </a:rPr>
              <a:t>CONVENTIONAL MODEL</a:t>
            </a:r>
            <a:endParaRPr lang="en-US" sz="900" dirty="0"/>
          </a:p>
        </p:txBody>
      </p:sp>
      <p:sp>
        <p:nvSpPr>
          <p:cNvPr id="7" name="Text 5"/>
          <p:cNvSpPr/>
          <p:nvPr/>
        </p:nvSpPr>
        <p:spPr>
          <a:xfrm>
            <a:off x="667512" y="1810512"/>
            <a:ext cx="3566160" cy="713232"/>
          </a:xfrm>
          <a:prstGeom prst="rect">
            <a:avLst/>
          </a:prstGeom>
          <a:noFill/>
          <a:ln/>
        </p:spPr>
        <p:txBody>
          <a:bodyPr wrap="square" lIns="0" tIns="0" rIns="0" bIns="0" rtlCol="0" anchor="ctr"/>
          <a:lstStyle/>
          <a:p>
            <a:pPr indent="0" marL="0">
              <a:lnSpc>
                <a:spcPct val="108000"/>
              </a:lnSpc>
              <a:buNone/>
            </a:pPr>
            <a:r>
              <a:rPr lang="en-US" sz="1100" dirty="0">
                <a:solidFill>
                  <a:srgbClr val="58503F"/>
                </a:solidFill>
                <a:latin typeface="Calibri" pitchFamily="34" charset="0"/>
                <a:ea typeface="Calibri" pitchFamily="34" charset="-122"/>
                <a:cs typeface="Calibri" pitchFamily="34" charset="-120"/>
              </a:rPr>
              <a:t>Asset class is a fixed axis of the schema. PE holdings in one table, credit in another, real estate in a third.</a:t>
            </a:r>
            <a:endParaRPr lang="en-US" sz="1100" dirty="0"/>
          </a:p>
        </p:txBody>
      </p:sp>
      <p:sp>
        <p:nvSpPr>
          <p:cNvPr id="8" name="Text 6"/>
          <p:cNvSpPr/>
          <p:nvPr/>
        </p:nvSpPr>
        <p:spPr>
          <a:xfrm>
            <a:off x="667512" y="2578608"/>
            <a:ext cx="3566160" cy="768096"/>
          </a:xfrm>
          <a:prstGeom prst="rect">
            <a:avLst/>
          </a:prstGeom>
          <a:noFill/>
          <a:ln/>
        </p:spPr>
        <p:txBody>
          <a:bodyPr wrap="square" lIns="0" tIns="0" rIns="0" bIns="0" rtlCol="0" anchor="ctr"/>
          <a:lstStyle/>
          <a:p>
            <a:pPr indent="0" marL="0">
              <a:lnSpc>
                <a:spcPct val="108000"/>
              </a:lnSpc>
              <a:buNone/>
            </a:pPr>
            <a:r>
              <a:rPr lang="en-US" sz="1100" dirty="0">
                <a:solidFill>
                  <a:srgbClr val="58503F"/>
                </a:solidFill>
                <a:latin typeface="Calibri" pitchFamily="34" charset="0"/>
                <a:ea typeface="Calibri" pitchFamily="34" charset="-122"/>
                <a:cs typeface="Calibri" pitchFamily="34" charset="-120"/>
              </a:rPr>
              <a:t>A borrower ID and a portfolio-company row are different objects in different systems — even when they are the same company.</a:t>
            </a:r>
            <a:endParaRPr lang="en-US" sz="1100" dirty="0"/>
          </a:p>
        </p:txBody>
      </p:sp>
      <p:sp>
        <p:nvSpPr>
          <p:cNvPr id="9" name="Text 7"/>
          <p:cNvSpPr/>
          <p:nvPr/>
        </p:nvSpPr>
        <p:spPr>
          <a:xfrm>
            <a:off x="667512" y="3438144"/>
            <a:ext cx="3566160" cy="256032"/>
          </a:xfrm>
          <a:prstGeom prst="rect">
            <a:avLst/>
          </a:prstGeom>
          <a:noFill/>
          <a:ln/>
        </p:spPr>
        <p:txBody>
          <a:bodyPr wrap="square" lIns="0" tIns="0" rIns="0" bIns="0" rtlCol="0" anchor="ctr"/>
          <a:lstStyle/>
          <a:p>
            <a:pPr indent="0" marL="0">
              <a:buNone/>
            </a:pPr>
            <a:r>
              <a:rPr lang="en-US" sz="1050" b="1" dirty="0">
                <a:solidFill>
                  <a:srgbClr val="948A74"/>
                </a:solidFill>
                <a:latin typeface="Calibri" pitchFamily="34" charset="0"/>
                <a:ea typeface="Calibri" pitchFamily="34" charset="-122"/>
                <a:cs typeface="Calibri" pitchFamily="34" charset="-120"/>
              </a:rPr>
              <a:t>Cannot be retrofitted cheaply.</a:t>
            </a:r>
            <a:endParaRPr lang="en-US" sz="1050" dirty="0"/>
          </a:p>
        </p:txBody>
      </p:sp>
      <p:sp>
        <p:nvSpPr>
          <p:cNvPr id="10" name="Shape 8"/>
          <p:cNvSpPr/>
          <p:nvPr/>
        </p:nvSpPr>
        <p:spPr>
          <a:xfrm>
            <a:off x="4727448" y="1426464"/>
            <a:ext cx="3913632" cy="2340864"/>
          </a:xfrm>
          <a:prstGeom prst="rect">
            <a:avLst/>
          </a:prstGeom>
          <a:solidFill>
            <a:srgbClr val="FFFDF8"/>
          </a:solidFill>
          <a:ln w="19050">
            <a:solidFill>
              <a:srgbClr val="9C2B1F"/>
            </a:solidFill>
            <a:prstDash val="solid"/>
          </a:ln>
        </p:spPr>
      </p:sp>
      <p:sp>
        <p:nvSpPr>
          <p:cNvPr id="11" name="Text 9"/>
          <p:cNvSpPr/>
          <p:nvPr/>
        </p:nvSpPr>
        <p:spPr>
          <a:xfrm>
            <a:off x="4892040" y="1554480"/>
            <a:ext cx="3566160" cy="219456"/>
          </a:xfrm>
          <a:prstGeom prst="rect">
            <a:avLst/>
          </a:prstGeom>
          <a:noFill/>
          <a:ln/>
        </p:spPr>
        <p:txBody>
          <a:bodyPr wrap="square" lIns="0" tIns="0" rIns="0" bIns="0" rtlCol="0" anchor="ctr"/>
          <a:lstStyle/>
          <a:p>
            <a:pPr indent="0" marL="0">
              <a:buNone/>
            </a:pPr>
            <a:r>
              <a:rPr lang="en-US" sz="900" b="1" spc="120" kern="0" dirty="0">
                <a:solidFill>
                  <a:srgbClr val="9C2B1F"/>
                </a:solidFill>
                <a:latin typeface="Calibri" pitchFamily="34" charset="0"/>
                <a:ea typeface="Calibri" pitchFamily="34" charset="-122"/>
                <a:cs typeface="Calibri" pitchFamily="34" charset="-120"/>
              </a:rPr>
              <a:t>OURS</a:t>
            </a:r>
            <a:endParaRPr lang="en-US" sz="900" dirty="0"/>
          </a:p>
        </p:txBody>
      </p:sp>
      <p:sp>
        <p:nvSpPr>
          <p:cNvPr id="12" name="Text 10"/>
          <p:cNvSpPr/>
          <p:nvPr/>
        </p:nvSpPr>
        <p:spPr>
          <a:xfrm>
            <a:off x="4892040" y="1810512"/>
            <a:ext cx="237744" cy="237744"/>
          </a:xfrm>
          <a:prstGeom prst="rect">
            <a:avLst/>
          </a:prstGeom>
          <a:noFill/>
          <a:ln/>
        </p:spPr>
        <p:txBody>
          <a:bodyPr wrap="square" lIns="0" tIns="0" rIns="0" bIns="0" rtlCol="0" anchor="ctr"/>
          <a:lstStyle/>
          <a:p>
            <a:pPr indent="0" marL="0">
              <a:buNone/>
            </a:pPr>
            <a:r>
              <a:rPr lang="en-US" sz="1300" b="1" dirty="0">
                <a:solidFill>
                  <a:srgbClr val="9C2B1F"/>
                </a:solidFill>
                <a:latin typeface="Georgia" pitchFamily="34" charset="0"/>
                <a:ea typeface="Georgia" pitchFamily="34" charset="-122"/>
                <a:cs typeface="Georgia" pitchFamily="34" charset="-120"/>
              </a:rPr>
              <a:t>1</a:t>
            </a:r>
            <a:endParaRPr lang="en-US" sz="1300" dirty="0"/>
          </a:p>
        </p:txBody>
      </p:sp>
      <p:sp>
        <p:nvSpPr>
          <p:cNvPr id="13" name="Text 11"/>
          <p:cNvSpPr/>
          <p:nvPr/>
        </p:nvSpPr>
        <p:spPr>
          <a:xfrm>
            <a:off x="5175504" y="1810512"/>
            <a:ext cx="3291840" cy="512064"/>
          </a:xfrm>
          <a:prstGeom prst="rect">
            <a:avLst/>
          </a:prstGeom>
          <a:noFill/>
          <a:ln/>
        </p:spPr>
        <p:txBody>
          <a:bodyPr wrap="square" lIns="0" tIns="0" rIns="0" bIns="0" rtlCol="0" anchor="ctr"/>
          <a:lstStyle/>
          <a:p>
            <a:pPr indent="0" marL="0">
              <a:lnSpc>
                <a:spcPct val="106000"/>
              </a:lnSpc>
              <a:buNone/>
            </a:pPr>
            <a:r>
              <a:rPr lang="en-US" sz="1050" dirty="0">
                <a:solidFill>
                  <a:srgbClr val="19140F"/>
                </a:solidFill>
                <a:latin typeface="Calibri" pitchFamily="34" charset="0"/>
                <a:ea typeface="Calibri" pitchFamily="34" charset="-122"/>
                <a:cs typeface="Calibri" pitchFamily="34" charset="-120"/>
              </a:rPr>
              <a:t>One typed edges table — equity, debt and guarantees are edges between the same nodes.</a:t>
            </a:r>
            <a:endParaRPr lang="en-US" sz="1050" dirty="0"/>
          </a:p>
        </p:txBody>
      </p:sp>
      <p:sp>
        <p:nvSpPr>
          <p:cNvPr id="14" name="Text 12"/>
          <p:cNvSpPr/>
          <p:nvPr/>
        </p:nvSpPr>
        <p:spPr>
          <a:xfrm>
            <a:off x="4892040" y="2359152"/>
            <a:ext cx="237744" cy="237744"/>
          </a:xfrm>
          <a:prstGeom prst="rect">
            <a:avLst/>
          </a:prstGeom>
          <a:noFill/>
          <a:ln/>
        </p:spPr>
        <p:txBody>
          <a:bodyPr wrap="square" lIns="0" tIns="0" rIns="0" bIns="0" rtlCol="0" anchor="ctr"/>
          <a:lstStyle/>
          <a:p>
            <a:pPr indent="0" marL="0">
              <a:buNone/>
            </a:pPr>
            <a:r>
              <a:rPr lang="en-US" sz="1300" b="1" dirty="0">
                <a:solidFill>
                  <a:srgbClr val="9C2B1F"/>
                </a:solidFill>
                <a:latin typeface="Georgia" pitchFamily="34" charset="0"/>
                <a:ea typeface="Georgia" pitchFamily="34" charset="-122"/>
                <a:cs typeface="Georgia" pitchFamily="34" charset="-120"/>
              </a:rPr>
              <a:t>2</a:t>
            </a:r>
            <a:endParaRPr lang="en-US" sz="1300" dirty="0"/>
          </a:p>
        </p:txBody>
      </p:sp>
      <p:sp>
        <p:nvSpPr>
          <p:cNvPr id="15" name="Text 13"/>
          <p:cNvSpPr/>
          <p:nvPr/>
        </p:nvSpPr>
        <p:spPr>
          <a:xfrm>
            <a:off x="5175504" y="2359152"/>
            <a:ext cx="3291840" cy="512064"/>
          </a:xfrm>
          <a:prstGeom prst="rect">
            <a:avLst/>
          </a:prstGeom>
          <a:noFill/>
          <a:ln/>
        </p:spPr>
        <p:txBody>
          <a:bodyPr wrap="square" lIns="0" tIns="0" rIns="0" bIns="0" rtlCol="0" anchor="ctr"/>
          <a:lstStyle/>
          <a:p>
            <a:pPr indent="0" marL="0">
              <a:lnSpc>
                <a:spcPct val="106000"/>
              </a:lnSpc>
              <a:buNone/>
            </a:pPr>
            <a:r>
              <a:rPr lang="en-US" sz="1050" dirty="0">
                <a:solidFill>
                  <a:srgbClr val="19140F"/>
                </a:solidFill>
                <a:latin typeface="Calibri" pitchFamily="34" charset="0"/>
                <a:ea typeface="Calibri" pitchFamily="34" charset="-122"/>
                <a:cs typeface="Calibri" pitchFamily="34" charset="-120"/>
              </a:rPr>
              <a:t>Guarantees are a first-class edge type, never a note on a loan record.</a:t>
            </a:r>
            <a:endParaRPr lang="en-US" sz="1050" dirty="0"/>
          </a:p>
        </p:txBody>
      </p:sp>
      <p:sp>
        <p:nvSpPr>
          <p:cNvPr id="16" name="Text 14"/>
          <p:cNvSpPr/>
          <p:nvPr/>
        </p:nvSpPr>
        <p:spPr>
          <a:xfrm>
            <a:off x="4892040" y="2907792"/>
            <a:ext cx="237744" cy="237744"/>
          </a:xfrm>
          <a:prstGeom prst="rect">
            <a:avLst/>
          </a:prstGeom>
          <a:noFill/>
          <a:ln/>
        </p:spPr>
        <p:txBody>
          <a:bodyPr wrap="square" lIns="0" tIns="0" rIns="0" bIns="0" rtlCol="0" anchor="ctr"/>
          <a:lstStyle/>
          <a:p>
            <a:pPr indent="0" marL="0">
              <a:buNone/>
            </a:pPr>
            <a:r>
              <a:rPr lang="en-US" sz="1300" b="1" dirty="0">
                <a:solidFill>
                  <a:srgbClr val="9C2B1F"/>
                </a:solidFill>
                <a:latin typeface="Georgia" pitchFamily="34" charset="0"/>
                <a:ea typeface="Georgia" pitchFamily="34" charset="-122"/>
                <a:cs typeface="Georgia" pitchFamily="34" charset="-120"/>
              </a:rPr>
              <a:t>3</a:t>
            </a:r>
            <a:endParaRPr lang="en-US" sz="1300" dirty="0"/>
          </a:p>
        </p:txBody>
      </p:sp>
      <p:sp>
        <p:nvSpPr>
          <p:cNvPr id="17" name="Text 15"/>
          <p:cNvSpPr/>
          <p:nvPr/>
        </p:nvSpPr>
        <p:spPr>
          <a:xfrm>
            <a:off x="5175504" y="2907792"/>
            <a:ext cx="3291840" cy="512064"/>
          </a:xfrm>
          <a:prstGeom prst="rect">
            <a:avLst/>
          </a:prstGeom>
          <a:noFill/>
          <a:ln/>
        </p:spPr>
        <p:txBody>
          <a:bodyPr wrap="square" lIns="0" tIns="0" rIns="0" bIns="0" rtlCol="0" anchor="ctr"/>
          <a:lstStyle/>
          <a:p>
            <a:pPr indent="0" marL="0">
              <a:lnSpc>
                <a:spcPct val="106000"/>
              </a:lnSpc>
              <a:buNone/>
            </a:pPr>
            <a:r>
              <a:rPr lang="en-US" sz="1050" dirty="0">
                <a:solidFill>
                  <a:srgbClr val="19140F"/>
                </a:solidFill>
                <a:latin typeface="Calibri" pitchFamily="34" charset="0"/>
                <a:ea typeface="Calibri" pitchFamily="34" charset="-122"/>
                <a:cs typeface="Calibri" pitchFamily="34" charset="-120"/>
              </a:rPr>
              <a:t>Every value carries an as-of date and a confidence score. Not null, no exceptions.</a:t>
            </a:r>
            <a:endParaRPr lang="en-US" sz="1050" dirty="0"/>
          </a:p>
        </p:txBody>
      </p:sp>
      <p:sp>
        <p:nvSpPr>
          <p:cNvPr id="18" name="Text 16"/>
          <p:cNvSpPr/>
          <p:nvPr/>
        </p:nvSpPr>
        <p:spPr>
          <a:xfrm>
            <a:off x="4892040" y="3493008"/>
            <a:ext cx="3566160" cy="256032"/>
          </a:xfrm>
          <a:prstGeom prst="rect">
            <a:avLst/>
          </a:prstGeom>
          <a:noFill/>
          <a:ln/>
        </p:spPr>
        <p:txBody>
          <a:bodyPr wrap="square" lIns="0" tIns="0" rIns="0" bIns="0" rtlCol="0" anchor="ctr"/>
          <a:lstStyle/>
          <a:p>
            <a:pPr indent="0" marL="0">
              <a:buNone/>
            </a:pPr>
            <a:r>
              <a:rPr lang="en-US" sz="1050" b="1" dirty="0">
                <a:solidFill>
                  <a:srgbClr val="9C2B1F"/>
                </a:solidFill>
                <a:latin typeface="Calibri" pitchFamily="34" charset="0"/>
                <a:ea typeface="Calibri" pitchFamily="34" charset="-122"/>
                <a:cs typeface="Calibri" pitchFamily="34" charset="-120"/>
              </a:rPr>
              <a:t>Enforced in the schema, not by convention.</a:t>
            </a:r>
            <a:endParaRPr lang="en-US" sz="1050" dirty="0"/>
          </a:p>
        </p:txBody>
      </p:sp>
      <p:sp>
        <p:nvSpPr>
          <p:cNvPr id="19" name="Text 17"/>
          <p:cNvSpPr/>
          <p:nvPr/>
        </p:nvSpPr>
        <p:spPr>
          <a:xfrm>
            <a:off x="502920" y="4722876"/>
            <a:ext cx="8138160" cy="274320"/>
          </a:xfrm>
          <a:prstGeom prst="rect">
            <a:avLst/>
          </a:prstGeom>
          <a:noFill/>
          <a:ln/>
        </p:spPr>
        <p:txBody>
          <a:bodyPr wrap="square" lIns="0" tIns="0" rIns="0" bIns="0" rtlCol="0" anchor="ctr"/>
          <a:lstStyle/>
          <a:p>
            <a:pPr indent="0" marL="0">
              <a:buNone/>
            </a:pPr>
            <a:r>
              <a:rPr lang="en-US" sz="900" i="1" dirty="0">
                <a:solidFill>
                  <a:srgbClr val="948A74"/>
                </a:solidFill>
                <a:latin typeface="Calibri" pitchFamily="34" charset="0"/>
                <a:ea typeface="Calibri" pitchFamily="34" charset="-122"/>
                <a:cs typeface="Calibri" pitchFamily="34" charset="-120"/>
              </a:rPr>
              <a:t>This single modelling choice is what makes the headline finding computable — and what an asset-class-siloed incumbent cannot adopt without a rewrite.</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1E7"/>
        </a:solidFill>
      </p:bgPr>
    </p:bg>
    <p:spTree>
      <p:nvGrpSpPr>
        <p:cNvPr id="1" name=""/>
        <p:cNvGrpSpPr/>
        <p:nvPr/>
      </p:nvGrpSpPr>
      <p:grpSpPr>
        <a:xfrm>
          <a:off x="0" y="0"/>
          <a:ext cx="0" cy="0"/>
          <a:chOff x="0" y="0"/>
          <a:chExt cx="0" cy="0"/>
        </a:xfrm>
      </p:grpSpPr>
      <p:sp>
        <p:nvSpPr>
          <p:cNvPr id="2" name="Shape 0"/>
          <p:cNvSpPr/>
          <p:nvPr/>
        </p:nvSpPr>
        <p:spPr>
          <a:xfrm>
            <a:off x="0" y="0"/>
            <a:ext cx="82296" cy="5143500"/>
          </a:xfrm>
          <a:prstGeom prst="rect">
            <a:avLst/>
          </a:prstGeom>
          <a:solidFill>
            <a:srgbClr val="9C2B1F"/>
          </a:solidFill>
          <a:ln/>
        </p:spPr>
      </p:sp>
      <p:sp>
        <p:nvSpPr>
          <p:cNvPr id="3" name="Text 1"/>
          <p:cNvSpPr/>
          <p:nvPr/>
        </p:nvSpPr>
        <p:spPr>
          <a:xfrm>
            <a:off x="502920" y="310896"/>
            <a:ext cx="8138160" cy="219456"/>
          </a:xfrm>
          <a:prstGeom prst="rect">
            <a:avLst/>
          </a:prstGeom>
          <a:noFill/>
          <a:ln/>
        </p:spPr>
        <p:txBody>
          <a:bodyPr wrap="square" lIns="0" tIns="0" rIns="0" bIns="0" rtlCol="0" anchor="ctr"/>
          <a:lstStyle/>
          <a:p>
            <a:pPr indent="0" marL="0">
              <a:buNone/>
            </a:pPr>
            <a:r>
              <a:rPr lang="en-US" sz="1050" b="1" spc="220" kern="0" dirty="0">
                <a:solidFill>
                  <a:srgbClr val="9C2B1F"/>
                </a:solidFill>
                <a:latin typeface="Calibri" pitchFamily="34" charset="0"/>
                <a:ea typeface="Calibri" pitchFamily="34" charset="-122"/>
                <a:cs typeface="Calibri" pitchFamily="34" charset="-120"/>
              </a:rPr>
              <a:t>COMPETITIVE LANDSCAPE</a:t>
            </a:r>
            <a:endParaRPr lang="en-US" sz="1050" dirty="0"/>
          </a:p>
        </p:txBody>
      </p:sp>
      <p:sp>
        <p:nvSpPr>
          <p:cNvPr id="4" name="Text 2"/>
          <p:cNvSpPr/>
          <p:nvPr/>
        </p:nvSpPr>
        <p:spPr>
          <a:xfrm>
            <a:off x="502920" y="566928"/>
            <a:ext cx="8138160" cy="749808"/>
          </a:xfrm>
          <a:prstGeom prst="rect">
            <a:avLst/>
          </a:prstGeom>
          <a:noFill/>
          <a:ln/>
        </p:spPr>
        <p:txBody>
          <a:bodyPr wrap="square" lIns="0" tIns="0" rIns="0" bIns="0" rtlCol="0" anchor="ctr"/>
          <a:lstStyle/>
          <a:p>
            <a:pPr indent="0" marL="0">
              <a:lnSpc>
                <a:spcPct val="94000"/>
              </a:lnSpc>
              <a:buNone/>
            </a:pPr>
            <a:r>
              <a:rPr lang="en-US" sz="2800" b="1" dirty="0">
                <a:solidFill>
                  <a:srgbClr val="19140F"/>
                </a:solidFill>
                <a:latin typeface="Georgia" pitchFamily="34" charset="0"/>
                <a:ea typeface="Georgia" pitchFamily="34" charset="-122"/>
                <a:cs typeface="Georgia" pitchFamily="34" charset="-120"/>
              </a:rPr>
              <a:t>We do not claim a green field</a:t>
            </a:r>
            <a:endParaRPr lang="en-US" sz="2800" dirty="0"/>
          </a:p>
        </p:txBody>
      </p:sp>
      <p:sp>
        <p:nvSpPr>
          <p:cNvPr id="5" name="Text 3"/>
          <p:cNvSpPr/>
          <p:nvPr/>
        </p:nvSpPr>
        <p:spPr>
          <a:xfrm>
            <a:off x="630936" y="1389888"/>
            <a:ext cx="1024128" cy="201168"/>
          </a:xfrm>
          <a:prstGeom prst="rect">
            <a:avLst/>
          </a:prstGeom>
          <a:noFill/>
          <a:ln/>
        </p:spPr>
        <p:txBody>
          <a:bodyPr wrap="square" lIns="0" tIns="0" rIns="0" bIns="0" rtlCol="0" anchor="ctr"/>
          <a:lstStyle/>
          <a:p>
            <a:pPr indent="0" marL="0">
              <a:buNone/>
            </a:pPr>
            <a:r>
              <a:rPr lang="en-US" sz="850" b="1" spc="100" kern="0" dirty="0">
                <a:solidFill>
                  <a:srgbClr val="948A74"/>
                </a:solidFill>
                <a:latin typeface="Calibri" pitchFamily="34" charset="0"/>
                <a:ea typeface="Calibri" pitchFamily="34" charset="-122"/>
                <a:cs typeface="Calibri" pitchFamily="34" charset="-120"/>
              </a:rPr>
              <a:t>VENDOR</a:t>
            </a:r>
            <a:endParaRPr lang="en-US" sz="850" dirty="0"/>
          </a:p>
        </p:txBody>
      </p:sp>
      <p:sp>
        <p:nvSpPr>
          <p:cNvPr id="6" name="Text 4"/>
          <p:cNvSpPr/>
          <p:nvPr/>
        </p:nvSpPr>
        <p:spPr>
          <a:xfrm>
            <a:off x="1783080" y="1389888"/>
            <a:ext cx="3840480" cy="201168"/>
          </a:xfrm>
          <a:prstGeom prst="rect">
            <a:avLst/>
          </a:prstGeom>
          <a:noFill/>
          <a:ln/>
        </p:spPr>
        <p:txBody>
          <a:bodyPr wrap="square" lIns="0" tIns="0" rIns="0" bIns="0" rtlCol="0" anchor="ctr"/>
          <a:lstStyle/>
          <a:p>
            <a:pPr indent="0" marL="0">
              <a:buNone/>
            </a:pPr>
            <a:r>
              <a:rPr lang="en-US" sz="850" b="1" spc="100" kern="0" dirty="0">
                <a:solidFill>
                  <a:srgbClr val="948A74"/>
                </a:solidFill>
                <a:latin typeface="Calibri" pitchFamily="34" charset="0"/>
                <a:ea typeface="Calibri" pitchFamily="34" charset="-122"/>
                <a:cs typeface="Calibri" pitchFamily="34" charset="-120"/>
              </a:rPr>
              <a:t>SHIPS TODAY</a:t>
            </a:r>
            <a:endParaRPr lang="en-US" sz="850" dirty="0"/>
          </a:p>
        </p:txBody>
      </p:sp>
      <p:sp>
        <p:nvSpPr>
          <p:cNvPr id="7" name="Text 5"/>
          <p:cNvSpPr/>
          <p:nvPr/>
        </p:nvSpPr>
        <p:spPr>
          <a:xfrm>
            <a:off x="5760720" y="1389888"/>
            <a:ext cx="2834640" cy="201168"/>
          </a:xfrm>
          <a:prstGeom prst="rect">
            <a:avLst/>
          </a:prstGeom>
          <a:noFill/>
          <a:ln/>
        </p:spPr>
        <p:txBody>
          <a:bodyPr wrap="square" lIns="0" tIns="0" rIns="0" bIns="0" rtlCol="0" anchor="ctr"/>
          <a:lstStyle/>
          <a:p>
            <a:pPr indent="0" marL="0">
              <a:buNone/>
            </a:pPr>
            <a:r>
              <a:rPr lang="en-US" sz="850" b="1" spc="100" kern="0" dirty="0">
                <a:solidFill>
                  <a:srgbClr val="948A74"/>
                </a:solidFill>
                <a:latin typeface="Calibri" pitchFamily="34" charset="0"/>
                <a:ea typeface="Calibri" pitchFamily="34" charset="-122"/>
                <a:cs typeface="Calibri" pitchFamily="34" charset="-120"/>
              </a:rPr>
              <a:t>DOESN'T</a:t>
            </a:r>
            <a:endParaRPr lang="en-US" sz="850" dirty="0"/>
          </a:p>
        </p:txBody>
      </p:sp>
      <p:sp>
        <p:nvSpPr>
          <p:cNvPr id="8" name="Shape 6"/>
          <p:cNvSpPr/>
          <p:nvPr/>
        </p:nvSpPr>
        <p:spPr>
          <a:xfrm>
            <a:off x="502920" y="1645920"/>
            <a:ext cx="8138160" cy="420624"/>
          </a:xfrm>
          <a:prstGeom prst="rect">
            <a:avLst/>
          </a:prstGeom>
          <a:solidFill>
            <a:srgbClr val="FFFDF8"/>
          </a:solidFill>
          <a:ln w="6350">
            <a:solidFill>
              <a:srgbClr val="DDD2B8"/>
            </a:solidFill>
            <a:prstDash val="solid"/>
          </a:ln>
        </p:spPr>
      </p:sp>
      <p:sp>
        <p:nvSpPr>
          <p:cNvPr id="9" name="Text 7"/>
          <p:cNvSpPr/>
          <p:nvPr/>
        </p:nvSpPr>
        <p:spPr>
          <a:xfrm>
            <a:off x="630936" y="1746504"/>
            <a:ext cx="1051560" cy="237744"/>
          </a:xfrm>
          <a:prstGeom prst="rect">
            <a:avLst/>
          </a:prstGeom>
          <a:noFill/>
          <a:ln/>
        </p:spPr>
        <p:txBody>
          <a:bodyPr wrap="square" lIns="0" tIns="0" rIns="0" bIns="0" rtlCol="0" anchor="ctr"/>
          <a:lstStyle/>
          <a:p>
            <a:pPr indent="0" marL="0">
              <a:buNone/>
            </a:pPr>
            <a:r>
              <a:rPr lang="en-US" sz="1200" b="1" dirty="0">
                <a:solidFill>
                  <a:srgbClr val="A8641A"/>
                </a:solidFill>
                <a:latin typeface="Georgia" pitchFamily="34" charset="0"/>
                <a:ea typeface="Georgia" pitchFamily="34" charset="-122"/>
                <a:cs typeface="Georgia" pitchFamily="34" charset="-120"/>
              </a:rPr>
              <a:t>Aleta</a:t>
            </a:r>
            <a:endParaRPr lang="en-US" sz="1200" dirty="0"/>
          </a:p>
        </p:txBody>
      </p:sp>
      <p:sp>
        <p:nvSpPr>
          <p:cNvPr id="10" name="Text 8"/>
          <p:cNvSpPr/>
          <p:nvPr/>
        </p:nvSpPr>
        <p:spPr>
          <a:xfrm>
            <a:off x="1783080" y="1755648"/>
            <a:ext cx="3886200" cy="237744"/>
          </a:xfrm>
          <a:prstGeom prst="rect">
            <a:avLst/>
          </a:prstGeom>
          <a:noFill/>
          <a:ln/>
        </p:spPr>
        <p:txBody>
          <a:bodyPr wrap="square" lIns="0" tIns="0" rIns="0" bIns="0" rtlCol="0" anchor="ctr"/>
          <a:lstStyle/>
          <a:p>
            <a:pPr indent="0" marL="0">
              <a:buNone/>
            </a:pPr>
            <a:r>
              <a:rPr lang="en-US" sz="950" dirty="0">
                <a:solidFill>
                  <a:srgbClr val="19140F"/>
                </a:solidFill>
                <a:latin typeface="Calibri" pitchFamily="34" charset="0"/>
                <a:ea typeface="Calibri" pitchFamily="34" charset="-122"/>
                <a:cs typeface="Calibri" pitchFamily="34" charset="-120"/>
              </a:rPr>
              <a:t>Capital-call and distribution forecasting, J-curve, stress testing</a:t>
            </a:r>
            <a:endParaRPr lang="en-US" sz="950" dirty="0"/>
          </a:p>
        </p:txBody>
      </p:sp>
      <p:sp>
        <p:nvSpPr>
          <p:cNvPr id="11" name="Text 9"/>
          <p:cNvSpPr/>
          <p:nvPr/>
        </p:nvSpPr>
        <p:spPr>
          <a:xfrm>
            <a:off x="5760720" y="1755648"/>
            <a:ext cx="2834640" cy="237744"/>
          </a:xfrm>
          <a:prstGeom prst="rect">
            <a:avLst/>
          </a:prstGeom>
          <a:noFill/>
          <a:ln/>
        </p:spPr>
        <p:txBody>
          <a:bodyPr wrap="square" lIns="0" tIns="0" rIns="0" bIns="0" rtlCol="0" anchor="ctr"/>
          <a:lstStyle/>
          <a:p>
            <a:pPr indent="0" marL="0">
              <a:buNone/>
            </a:pPr>
            <a:r>
              <a:rPr lang="en-US" sz="950" dirty="0">
                <a:solidFill>
                  <a:srgbClr val="58503F"/>
                </a:solidFill>
                <a:latin typeface="Calibri" pitchFamily="34" charset="0"/>
                <a:ea typeface="Calibri" pitchFamily="34" charset="-122"/>
                <a:cs typeface="Calibri" pitchFamily="34" charset="-120"/>
              </a:rPr>
              <a:t>Company-level look-through</a:t>
            </a:r>
            <a:endParaRPr lang="en-US" sz="950" dirty="0"/>
          </a:p>
        </p:txBody>
      </p:sp>
      <p:sp>
        <p:nvSpPr>
          <p:cNvPr id="12" name="Shape 10"/>
          <p:cNvSpPr/>
          <p:nvPr/>
        </p:nvSpPr>
        <p:spPr>
          <a:xfrm>
            <a:off x="502920" y="2121408"/>
            <a:ext cx="8138160" cy="420624"/>
          </a:xfrm>
          <a:prstGeom prst="rect">
            <a:avLst/>
          </a:prstGeom>
          <a:solidFill>
            <a:srgbClr val="F5F1E7"/>
          </a:solidFill>
          <a:ln w="6350">
            <a:solidFill>
              <a:srgbClr val="DDD2B8"/>
            </a:solidFill>
            <a:prstDash val="solid"/>
          </a:ln>
        </p:spPr>
      </p:sp>
      <p:sp>
        <p:nvSpPr>
          <p:cNvPr id="13" name="Text 11"/>
          <p:cNvSpPr/>
          <p:nvPr/>
        </p:nvSpPr>
        <p:spPr>
          <a:xfrm>
            <a:off x="630936" y="2221992"/>
            <a:ext cx="1051560" cy="237744"/>
          </a:xfrm>
          <a:prstGeom prst="rect">
            <a:avLst/>
          </a:prstGeom>
          <a:noFill/>
          <a:ln/>
        </p:spPr>
        <p:txBody>
          <a:bodyPr wrap="square" lIns="0" tIns="0" rIns="0" bIns="0" rtlCol="0" anchor="ctr"/>
          <a:lstStyle/>
          <a:p>
            <a:pPr indent="0" marL="0">
              <a:buNone/>
            </a:pPr>
            <a:r>
              <a:rPr lang="en-US" sz="1200" b="1" dirty="0">
                <a:solidFill>
                  <a:srgbClr val="A8641A"/>
                </a:solidFill>
                <a:latin typeface="Georgia" pitchFamily="34" charset="0"/>
                <a:ea typeface="Georgia" pitchFamily="34" charset="-122"/>
                <a:cs typeface="Georgia" pitchFamily="34" charset="-120"/>
              </a:rPr>
              <a:t>Masttro</a:t>
            </a:r>
            <a:endParaRPr lang="en-US" sz="1200" dirty="0"/>
          </a:p>
        </p:txBody>
      </p:sp>
      <p:sp>
        <p:nvSpPr>
          <p:cNvPr id="14" name="Text 12"/>
          <p:cNvSpPr/>
          <p:nvPr/>
        </p:nvSpPr>
        <p:spPr>
          <a:xfrm>
            <a:off x="1783080" y="2231136"/>
            <a:ext cx="3886200" cy="237744"/>
          </a:xfrm>
          <a:prstGeom prst="rect">
            <a:avLst/>
          </a:prstGeom>
          <a:noFill/>
          <a:ln/>
        </p:spPr>
        <p:txBody>
          <a:bodyPr wrap="square" lIns="0" tIns="0" rIns="0" bIns="0" rtlCol="0" anchor="ctr"/>
          <a:lstStyle/>
          <a:p>
            <a:pPr indent="0" marL="0">
              <a:buNone/>
            </a:pPr>
            <a:r>
              <a:rPr lang="en-US" sz="950" dirty="0">
                <a:solidFill>
                  <a:srgbClr val="19140F"/>
                </a:solidFill>
                <a:latin typeface="Calibri" pitchFamily="34" charset="0"/>
                <a:ea typeface="Calibri" pitchFamily="34" charset="-122"/>
                <a:cs typeface="Calibri" pitchFamily="34" charset="-120"/>
              </a:rPr>
              <a:t>Fund-layer look-through, concentration flags by GP and vintage</a:t>
            </a:r>
            <a:endParaRPr lang="en-US" sz="950" dirty="0"/>
          </a:p>
        </p:txBody>
      </p:sp>
      <p:sp>
        <p:nvSpPr>
          <p:cNvPr id="15" name="Text 13"/>
          <p:cNvSpPr/>
          <p:nvPr/>
        </p:nvSpPr>
        <p:spPr>
          <a:xfrm>
            <a:off x="5760720" y="2231136"/>
            <a:ext cx="2834640" cy="237744"/>
          </a:xfrm>
          <a:prstGeom prst="rect">
            <a:avLst/>
          </a:prstGeom>
          <a:noFill/>
          <a:ln/>
        </p:spPr>
        <p:txBody>
          <a:bodyPr wrap="square" lIns="0" tIns="0" rIns="0" bIns="0" rtlCol="0" anchor="ctr"/>
          <a:lstStyle/>
          <a:p>
            <a:pPr indent="0" marL="0">
              <a:buNone/>
            </a:pPr>
            <a:r>
              <a:rPr lang="en-US" sz="950" dirty="0">
                <a:solidFill>
                  <a:srgbClr val="58503F"/>
                </a:solidFill>
                <a:latin typeface="Calibri" pitchFamily="34" charset="0"/>
                <a:ea typeface="Calibri" pitchFamily="34" charset="-122"/>
                <a:cs typeface="Calibri" pitchFamily="34" charset="-120"/>
              </a:rPr>
              <a:t>Forward liquidity modelling</a:t>
            </a:r>
            <a:endParaRPr lang="en-US" sz="950" dirty="0"/>
          </a:p>
        </p:txBody>
      </p:sp>
      <p:sp>
        <p:nvSpPr>
          <p:cNvPr id="16" name="Shape 14"/>
          <p:cNvSpPr/>
          <p:nvPr/>
        </p:nvSpPr>
        <p:spPr>
          <a:xfrm>
            <a:off x="502920" y="2596896"/>
            <a:ext cx="8138160" cy="420624"/>
          </a:xfrm>
          <a:prstGeom prst="rect">
            <a:avLst/>
          </a:prstGeom>
          <a:solidFill>
            <a:srgbClr val="FFFDF8"/>
          </a:solidFill>
          <a:ln w="6350">
            <a:solidFill>
              <a:srgbClr val="DDD2B8"/>
            </a:solidFill>
            <a:prstDash val="solid"/>
          </a:ln>
        </p:spPr>
      </p:sp>
      <p:sp>
        <p:nvSpPr>
          <p:cNvPr id="17" name="Text 15"/>
          <p:cNvSpPr/>
          <p:nvPr/>
        </p:nvSpPr>
        <p:spPr>
          <a:xfrm>
            <a:off x="630936" y="2697480"/>
            <a:ext cx="1051560" cy="237744"/>
          </a:xfrm>
          <a:prstGeom prst="rect">
            <a:avLst/>
          </a:prstGeom>
          <a:noFill/>
          <a:ln/>
        </p:spPr>
        <p:txBody>
          <a:bodyPr wrap="square" lIns="0" tIns="0" rIns="0" bIns="0" rtlCol="0" anchor="ctr"/>
          <a:lstStyle/>
          <a:p>
            <a:pPr indent="0" marL="0">
              <a:buNone/>
            </a:pPr>
            <a:r>
              <a:rPr lang="en-US" sz="1200" b="1" dirty="0">
                <a:solidFill>
                  <a:srgbClr val="948A74"/>
                </a:solidFill>
                <a:latin typeface="Georgia" pitchFamily="34" charset="0"/>
                <a:ea typeface="Georgia" pitchFamily="34" charset="-122"/>
                <a:cs typeface="Georgia" pitchFamily="34" charset="-120"/>
              </a:rPr>
              <a:t>Canoe</a:t>
            </a:r>
            <a:endParaRPr lang="en-US" sz="1200" dirty="0"/>
          </a:p>
        </p:txBody>
      </p:sp>
      <p:sp>
        <p:nvSpPr>
          <p:cNvPr id="18" name="Text 16"/>
          <p:cNvSpPr/>
          <p:nvPr/>
        </p:nvSpPr>
        <p:spPr>
          <a:xfrm>
            <a:off x="1783080" y="2706624"/>
            <a:ext cx="3886200" cy="237744"/>
          </a:xfrm>
          <a:prstGeom prst="rect">
            <a:avLst/>
          </a:prstGeom>
          <a:noFill/>
          <a:ln/>
        </p:spPr>
        <p:txBody>
          <a:bodyPr wrap="square" lIns="0" tIns="0" rIns="0" bIns="0" rtlCol="0" anchor="ctr"/>
          <a:lstStyle/>
          <a:p>
            <a:pPr indent="0" marL="0">
              <a:buNone/>
            </a:pPr>
            <a:r>
              <a:rPr lang="en-US" sz="950" dirty="0">
                <a:solidFill>
                  <a:srgbClr val="19140F"/>
                </a:solidFill>
                <a:latin typeface="Calibri" pitchFamily="34" charset="0"/>
                <a:ea typeface="Calibri" pitchFamily="34" charset="-122"/>
                <a:cs typeface="Calibri" pitchFamily="34" charset="-120"/>
              </a:rPr>
              <a:t>Best-in-class alternative-asset document extraction</a:t>
            </a:r>
            <a:endParaRPr lang="en-US" sz="950" dirty="0"/>
          </a:p>
        </p:txBody>
      </p:sp>
      <p:sp>
        <p:nvSpPr>
          <p:cNvPr id="19" name="Text 17"/>
          <p:cNvSpPr/>
          <p:nvPr/>
        </p:nvSpPr>
        <p:spPr>
          <a:xfrm>
            <a:off x="5760720" y="2706624"/>
            <a:ext cx="2834640" cy="237744"/>
          </a:xfrm>
          <a:prstGeom prst="rect">
            <a:avLst/>
          </a:prstGeom>
          <a:noFill/>
          <a:ln/>
        </p:spPr>
        <p:txBody>
          <a:bodyPr wrap="square" lIns="0" tIns="0" rIns="0" bIns="0" rtlCol="0" anchor="ctr"/>
          <a:lstStyle/>
          <a:p>
            <a:pPr indent="0" marL="0">
              <a:buNone/>
            </a:pPr>
            <a:r>
              <a:rPr lang="en-US" sz="950" dirty="0">
                <a:solidFill>
                  <a:srgbClr val="58503F"/>
                </a:solidFill>
                <a:latin typeface="Calibri" pitchFamily="34" charset="0"/>
                <a:ea typeface="Calibri" pitchFamily="34" charset="-122"/>
                <a:cs typeface="Calibri" pitchFamily="34" charset="-120"/>
              </a:rPr>
              <a:t>A pipe, not a risk engine</a:t>
            </a:r>
            <a:endParaRPr lang="en-US" sz="950" dirty="0"/>
          </a:p>
        </p:txBody>
      </p:sp>
      <p:sp>
        <p:nvSpPr>
          <p:cNvPr id="20" name="Shape 18"/>
          <p:cNvSpPr/>
          <p:nvPr/>
        </p:nvSpPr>
        <p:spPr>
          <a:xfrm>
            <a:off x="502920" y="3072384"/>
            <a:ext cx="8138160" cy="420624"/>
          </a:xfrm>
          <a:prstGeom prst="rect">
            <a:avLst/>
          </a:prstGeom>
          <a:solidFill>
            <a:srgbClr val="F5F1E7"/>
          </a:solidFill>
          <a:ln w="6350">
            <a:solidFill>
              <a:srgbClr val="DDD2B8"/>
            </a:solidFill>
            <a:prstDash val="solid"/>
          </a:ln>
        </p:spPr>
      </p:sp>
      <p:sp>
        <p:nvSpPr>
          <p:cNvPr id="21" name="Text 19"/>
          <p:cNvSpPr/>
          <p:nvPr/>
        </p:nvSpPr>
        <p:spPr>
          <a:xfrm>
            <a:off x="630936" y="3172968"/>
            <a:ext cx="1051560" cy="237744"/>
          </a:xfrm>
          <a:prstGeom prst="rect">
            <a:avLst/>
          </a:prstGeom>
          <a:noFill/>
          <a:ln/>
        </p:spPr>
        <p:txBody>
          <a:bodyPr wrap="square" lIns="0" tIns="0" rIns="0" bIns="0" rtlCol="0" anchor="ctr"/>
          <a:lstStyle/>
          <a:p>
            <a:pPr indent="0" marL="0">
              <a:buNone/>
            </a:pPr>
            <a:r>
              <a:rPr lang="en-US" sz="1200" b="1" dirty="0">
                <a:solidFill>
                  <a:srgbClr val="948A74"/>
                </a:solidFill>
                <a:latin typeface="Georgia" pitchFamily="34" charset="0"/>
                <a:ea typeface="Georgia" pitchFamily="34" charset="-122"/>
                <a:cs typeface="Georgia" pitchFamily="34" charset="-120"/>
              </a:rPr>
              <a:t>Addepar</a:t>
            </a:r>
            <a:endParaRPr lang="en-US" sz="1200" dirty="0"/>
          </a:p>
        </p:txBody>
      </p:sp>
      <p:sp>
        <p:nvSpPr>
          <p:cNvPr id="22" name="Text 20"/>
          <p:cNvSpPr/>
          <p:nvPr/>
        </p:nvSpPr>
        <p:spPr>
          <a:xfrm>
            <a:off x="1783080" y="3182112"/>
            <a:ext cx="3886200" cy="237744"/>
          </a:xfrm>
          <a:prstGeom prst="rect">
            <a:avLst/>
          </a:prstGeom>
          <a:noFill/>
          <a:ln/>
        </p:spPr>
        <p:txBody>
          <a:bodyPr wrap="square" lIns="0" tIns="0" rIns="0" bIns="0" rtlCol="0" anchor="ctr"/>
          <a:lstStyle/>
          <a:p>
            <a:pPr indent="0" marL="0">
              <a:buNone/>
            </a:pPr>
            <a:r>
              <a:rPr lang="en-US" sz="950" dirty="0">
                <a:solidFill>
                  <a:srgbClr val="19140F"/>
                </a:solidFill>
                <a:latin typeface="Calibri" pitchFamily="34" charset="0"/>
                <a:ea typeface="Calibri" pitchFamily="34" charset="-122"/>
                <a:cs typeface="Calibri" pitchFamily="34" charset="-120"/>
              </a:rPr>
              <a:t>Multi-asset reporting and aggregation at scale</a:t>
            </a:r>
            <a:endParaRPr lang="en-US" sz="950" dirty="0"/>
          </a:p>
        </p:txBody>
      </p:sp>
      <p:sp>
        <p:nvSpPr>
          <p:cNvPr id="23" name="Text 21"/>
          <p:cNvSpPr/>
          <p:nvPr/>
        </p:nvSpPr>
        <p:spPr>
          <a:xfrm>
            <a:off x="5760720" y="3182112"/>
            <a:ext cx="2834640" cy="237744"/>
          </a:xfrm>
          <a:prstGeom prst="rect">
            <a:avLst/>
          </a:prstGeom>
          <a:noFill/>
          <a:ln/>
        </p:spPr>
        <p:txBody>
          <a:bodyPr wrap="square" lIns="0" tIns="0" rIns="0" bIns="0" rtlCol="0" anchor="ctr"/>
          <a:lstStyle/>
          <a:p>
            <a:pPr indent="0" marL="0">
              <a:buNone/>
            </a:pPr>
            <a:r>
              <a:rPr lang="en-US" sz="950" dirty="0">
                <a:solidFill>
                  <a:srgbClr val="58503F"/>
                </a:solidFill>
                <a:latin typeface="Calibri" pitchFamily="34" charset="0"/>
                <a:ea typeface="Calibri" pitchFamily="34" charset="-122"/>
                <a:cs typeface="Calibri" pitchFamily="34" charset="-120"/>
              </a:rPr>
              <a:t>Backward-looking, fund-level</a:t>
            </a:r>
            <a:endParaRPr lang="en-US" sz="950" dirty="0"/>
          </a:p>
        </p:txBody>
      </p:sp>
      <p:sp>
        <p:nvSpPr>
          <p:cNvPr id="24" name="Shape 22"/>
          <p:cNvSpPr/>
          <p:nvPr/>
        </p:nvSpPr>
        <p:spPr>
          <a:xfrm>
            <a:off x="502920" y="3675888"/>
            <a:ext cx="8138160" cy="749808"/>
          </a:xfrm>
          <a:prstGeom prst="rect">
            <a:avLst/>
          </a:prstGeom>
          <a:solidFill>
            <a:srgbClr val="F6DED6"/>
          </a:solidFill>
          <a:ln/>
        </p:spPr>
      </p:sp>
      <p:sp>
        <p:nvSpPr>
          <p:cNvPr id="25" name="Text 23"/>
          <p:cNvSpPr/>
          <p:nvPr/>
        </p:nvSpPr>
        <p:spPr>
          <a:xfrm>
            <a:off x="667512" y="3767328"/>
            <a:ext cx="7772400" cy="566928"/>
          </a:xfrm>
          <a:prstGeom prst="rect">
            <a:avLst/>
          </a:prstGeom>
          <a:noFill/>
          <a:ln/>
        </p:spPr>
        <p:txBody>
          <a:bodyPr wrap="square" lIns="0" tIns="0" rIns="0" bIns="0" rtlCol="0" anchor="ctr"/>
          <a:lstStyle/>
          <a:p>
            <a:pPr indent="0" marL="0">
              <a:lnSpc>
                <a:spcPct val="108000"/>
              </a:lnSpc>
              <a:buNone/>
            </a:pPr>
            <a:r>
              <a:rPr lang="en-US" sz="1100" b="1" dirty="0">
                <a:solidFill>
                  <a:srgbClr val="5C1710"/>
                </a:solidFill>
                <a:latin typeface="Calibri" pitchFamily="34" charset="0"/>
                <a:ea typeface="Calibri" pitchFamily="34" charset="-122"/>
                <a:cs typeface="Calibri" pitchFamily="34" charset="-120"/>
              </a:rPr>
              <a:t>The seam: nobody connects the two, and nobody crosses asset classes. Aleta forecasts your cash. Masttro sees through your funds. Both require you to migrate onto a platform first.</a:t>
            </a:r>
            <a:endParaRPr lang="en-US" sz="1100" dirty="0"/>
          </a:p>
        </p:txBody>
      </p:sp>
      <p:sp>
        <p:nvSpPr>
          <p:cNvPr id="26" name="Text 24"/>
          <p:cNvSpPr/>
          <p:nvPr/>
        </p:nvSpPr>
        <p:spPr>
          <a:xfrm>
            <a:off x="502920" y="4722876"/>
            <a:ext cx="8138160" cy="274320"/>
          </a:xfrm>
          <a:prstGeom prst="rect">
            <a:avLst/>
          </a:prstGeom>
          <a:noFill/>
          <a:ln/>
        </p:spPr>
        <p:txBody>
          <a:bodyPr wrap="square" lIns="0" tIns="0" rIns="0" bIns="0" rtlCol="0" anchor="ctr"/>
          <a:lstStyle/>
          <a:p>
            <a:pPr indent="0" marL="0">
              <a:buNone/>
            </a:pPr>
            <a:r>
              <a:rPr lang="en-US" sz="900" i="1" dirty="0">
                <a:solidFill>
                  <a:srgbClr val="948A74"/>
                </a:solidFill>
                <a:latin typeface="Calibri" pitchFamily="34" charset="0"/>
                <a:ea typeface="Calibri" pitchFamily="34" charset="-122"/>
                <a:cs typeface="Calibri" pitchFamily="34" charset="-120"/>
              </a:rPr>
              <a:t>Aleta launched May 2026 — evidence the problem is urgent and funded, not evidence we are late.</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1E7"/>
        </a:solidFill>
      </p:bgPr>
    </p:bg>
    <p:spTree>
      <p:nvGrpSpPr>
        <p:cNvPr id="1" name=""/>
        <p:cNvGrpSpPr/>
        <p:nvPr/>
      </p:nvGrpSpPr>
      <p:grpSpPr>
        <a:xfrm>
          <a:off x="0" y="0"/>
          <a:ext cx="0" cy="0"/>
          <a:chOff x="0" y="0"/>
          <a:chExt cx="0" cy="0"/>
        </a:xfrm>
      </p:grpSpPr>
      <p:sp>
        <p:nvSpPr>
          <p:cNvPr id="2" name="Shape 0"/>
          <p:cNvSpPr/>
          <p:nvPr/>
        </p:nvSpPr>
        <p:spPr>
          <a:xfrm>
            <a:off x="0" y="0"/>
            <a:ext cx="82296" cy="5143500"/>
          </a:xfrm>
          <a:prstGeom prst="rect">
            <a:avLst/>
          </a:prstGeom>
          <a:solidFill>
            <a:srgbClr val="9C2B1F"/>
          </a:solidFill>
          <a:ln/>
        </p:spPr>
      </p:sp>
      <p:sp>
        <p:nvSpPr>
          <p:cNvPr id="3" name="Text 1"/>
          <p:cNvSpPr/>
          <p:nvPr/>
        </p:nvSpPr>
        <p:spPr>
          <a:xfrm>
            <a:off x="502920" y="310896"/>
            <a:ext cx="8138160" cy="219456"/>
          </a:xfrm>
          <a:prstGeom prst="rect">
            <a:avLst/>
          </a:prstGeom>
          <a:noFill/>
          <a:ln/>
        </p:spPr>
        <p:txBody>
          <a:bodyPr wrap="square" lIns="0" tIns="0" rIns="0" bIns="0" rtlCol="0" anchor="ctr"/>
          <a:lstStyle/>
          <a:p>
            <a:pPr indent="0" marL="0">
              <a:buNone/>
            </a:pPr>
            <a:r>
              <a:rPr lang="en-US" sz="1050" b="1" spc="220" kern="0" dirty="0">
                <a:solidFill>
                  <a:srgbClr val="9C2B1F"/>
                </a:solidFill>
                <a:latin typeface="Calibri" pitchFamily="34" charset="0"/>
                <a:ea typeface="Calibri" pitchFamily="34" charset="-122"/>
                <a:cs typeface="Calibri" pitchFamily="34" charset="-120"/>
              </a:rPr>
              <a:t>VALUE ANALYSIS</a:t>
            </a:r>
            <a:endParaRPr lang="en-US" sz="1050" dirty="0"/>
          </a:p>
        </p:txBody>
      </p:sp>
      <p:sp>
        <p:nvSpPr>
          <p:cNvPr id="4" name="Text 2"/>
          <p:cNvSpPr/>
          <p:nvPr/>
        </p:nvSpPr>
        <p:spPr>
          <a:xfrm>
            <a:off x="502920" y="566928"/>
            <a:ext cx="8138160" cy="749808"/>
          </a:xfrm>
          <a:prstGeom prst="rect">
            <a:avLst/>
          </a:prstGeom>
          <a:noFill/>
          <a:ln/>
        </p:spPr>
        <p:txBody>
          <a:bodyPr wrap="square" lIns="0" tIns="0" rIns="0" bIns="0" rtlCol="0" anchor="ctr"/>
          <a:lstStyle/>
          <a:p>
            <a:pPr indent="0" marL="0">
              <a:lnSpc>
                <a:spcPct val="94000"/>
              </a:lnSpc>
              <a:buNone/>
            </a:pPr>
            <a:r>
              <a:rPr lang="en-US" sz="2800" b="1" dirty="0">
                <a:solidFill>
                  <a:srgbClr val="19140F"/>
                </a:solidFill>
                <a:latin typeface="Georgia" pitchFamily="34" charset="0"/>
                <a:ea typeface="Georgia" pitchFamily="34" charset="-122"/>
                <a:cs typeface="Georgia" pitchFamily="34" charset="-120"/>
              </a:rPr>
              <a:t>What it's worth to them — and to us</a:t>
            </a:r>
            <a:endParaRPr lang="en-US" sz="2800" dirty="0"/>
          </a:p>
        </p:txBody>
      </p:sp>
      <p:sp>
        <p:nvSpPr>
          <p:cNvPr id="5" name="Text 3"/>
          <p:cNvSpPr/>
          <p:nvPr/>
        </p:nvSpPr>
        <p:spPr>
          <a:xfrm>
            <a:off x="502920" y="1371600"/>
            <a:ext cx="3840480" cy="201168"/>
          </a:xfrm>
          <a:prstGeom prst="rect">
            <a:avLst/>
          </a:prstGeom>
          <a:noFill/>
          <a:ln/>
        </p:spPr>
        <p:txBody>
          <a:bodyPr wrap="square" lIns="0" tIns="0" rIns="0" bIns="0" rtlCol="0" anchor="ctr"/>
          <a:lstStyle/>
          <a:p>
            <a:pPr indent="0" marL="0">
              <a:buNone/>
            </a:pPr>
            <a:r>
              <a:rPr lang="en-US" sz="900" b="1" spc="120" kern="0" dirty="0">
                <a:solidFill>
                  <a:srgbClr val="9C2B1F"/>
                </a:solidFill>
                <a:latin typeface="Calibri" pitchFamily="34" charset="0"/>
                <a:ea typeface="Calibri" pitchFamily="34" charset="-122"/>
                <a:cs typeface="Calibri" pitchFamily="34" charset="-120"/>
              </a:rPr>
              <a:t>VALUE TO THE CUSTOMER</a:t>
            </a:r>
            <a:endParaRPr lang="en-US" sz="900" dirty="0"/>
          </a:p>
        </p:txBody>
      </p:sp>
      <p:sp>
        <p:nvSpPr>
          <p:cNvPr id="6" name="Shape 4"/>
          <p:cNvSpPr/>
          <p:nvPr/>
        </p:nvSpPr>
        <p:spPr>
          <a:xfrm>
            <a:off x="502920" y="1645920"/>
            <a:ext cx="3840480" cy="493776"/>
          </a:xfrm>
          <a:prstGeom prst="rect">
            <a:avLst/>
          </a:prstGeom>
          <a:solidFill>
            <a:srgbClr val="FFFDF8"/>
          </a:solidFill>
          <a:ln w="12700">
            <a:solidFill>
              <a:srgbClr val="DDD2B8"/>
            </a:solidFill>
            <a:prstDash val="solid"/>
          </a:ln>
        </p:spPr>
      </p:sp>
      <p:sp>
        <p:nvSpPr>
          <p:cNvPr id="7" name="Shape 5"/>
          <p:cNvSpPr/>
          <p:nvPr/>
        </p:nvSpPr>
        <p:spPr>
          <a:xfrm>
            <a:off x="502920" y="1645920"/>
            <a:ext cx="41148" cy="493776"/>
          </a:xfrm>
          <a:prstGeom prst="rect">
            <a:avLst/>
          </a:prstGeom>
          <a:solidFill>
            <a:srgbClr val="9C2B1F"/>
          </a:solidFill>
          <a:ln/>
        </p:spPr>
      </p:sp>
      <p:sp>
        <p:nvSpPr>
          <p:cNvPr id="8" name="Text 6"/>
          <p:cNvSpPr/>
          <p:nvPr/>
        </p:nvSpPr>
        <p:spPr>
          <a:xfrm>
            <a:off x="649224" y="1700784"/>
            <a:ext cx="1463040" cy="256032"/>
          </a:xfrm>
          <a:prstGeom prst="rect">
            <a:avLst/>
          </a:prstGeom>
          <a:noFill/>
          <a:ln/>
        </p:spPr>
        <p:txBody>
          <a:bodyPr wrap="square" lIns="0" tIns="0" rIns="0" bIns="0" rtlCol="0" anchor="ctr"/>
          <a:lstStyle/>
          <a:p>
            <a:pPr indent="0" marL="0">
              <a:buNone/>
            </a:pPr>
            <a:r>
              <a:rPr lang="en-US" sz="1400" b="1" dirty="0">
                <a:solidFill>
                  <a:srgbClr val="19140F"/>
                </a:solidFill>
                <a:latin typeface="Georgia" pitchFamily="34" charset="0"/>
                <a:ea typeface="Georgia" pitchFamily="34" charset="-122"/>
                <a:cs typeface="Georgia" pitchFamily="34" charset="-120"/>
              </a:rPr>
              <a:t>$307,500</a:t>
            </a:r>
            <a:endParaRPr lang="en-US" sz="1400" dirty="0"/>
          </a:p>
        </p:txBody>
      </p:sp>
      <p:sp>
        <p:nvSpPr>
          <p:cNvPr id="9" name="Text 7"/>
          <p:cNvSpPr/>
          <p:nvPr/>
        </p:nvSpPr>
        <p:spPr>
          <a:xfrm>
            <a:off x="2148840" y="1737360"/>
            <a:ext cx="2103120" cy="329184"/>
          </a:xfrm>
          <a:prstGeom prst="rect">
            <a:avLst/>
          </a:prstGeom>
          <a:noFill/>
          <a:ln/>
        </p:spPr>
        <p:txBody>
          <a:bodyPr wrap="square" lIns="0" tIns="0" rIns="0" bIns="0" rtlCol="0" anchor="ctr"/>
          <a:lstStyle/>
          <a:p>
            <a:pPr indent="0" marL="0">
              <a:lnSpc>
                <a:spcPct val="102000"/>
              </a:lnSpc>
              <a:buNone/>
            </a:pPr>
            <a:r>
              <a:rPr lang="en-US" sz="950" dirty="0">
                <a:solidFill>
                  <a:srgbClr val="58503F"/>
                </a:solidFill>
                <a:latin typeface="Calibri" pitchFamily="34" charset="0"/>
                <a:ea typeface="Calibri" pitchFamily="34" charset="-122"/>
                <a:cs typeface="Calibri" pitchFamily="34" charset="-120"/>
              </a:rPr>
              <a:t>stressed liquidity gap detected</a:t>
            </a:r>
            <a:endParaRPr lang="en-US" sz="950" dirty="0"/>
          </a:p>
        </p:txBody>
      </p:sp>
      <p:sp>
        <p:nvSpPr>
          <p:cNvPr id="10" name="Shape 8"/>
          <p:cNvSpPr/>
          <p:nvPr/>
        </p:nvSpPr>
        <p:spPr>
          <a:xfrm>
            <a:off x="502920" y="2212848"/>
            <a:ext cx="3840480" cy="493776"/>
          </a:xfrm>
          <a:prstGeom prst="rect">
            <a:avLst/>
          </a:prstGeom>
          <a:solidFill>
            <a:srgbClr val="FFFDF8"/>
          </a:solidFill>
          <a:ln w="12700">
            <a:solidFill>
              <a:srgbClr val="DDD2B8"/>
            </a:solidFill>
            <a:prstDash val="solid"/>
          </a:ln>
        </p:spPr>
      </p:sp>
      <p:sp>
        <p:nvSpPr>
          <p:cNvPr id="11" name="Shape 9"/>
          <p:cNvSpPr/>
          <p:nvPr/>
        </p:nvSpPr>
        <p:spPr>
          <a:xfrm>
            <a:off x="502920" y="2212848"/>
            <a:ext cx="41148" cy="493776"/>
          </a:xfrm>
          <a:prstGeom prst="rect">
            <a:avLst/>
          </a:prstGeom>
          <a:solidFill>
            <a:srgbClr val="9C2B1F"/>
          </a:solidFill>
          <a:ln/>
        </p:spPr>
      </p:sp>
      <p:sp>
        <p:nvSpPr>
          <p:cNvPr id="12" name="Text 10"/>
          <p:cNvSpPr/>
          <p:nvPr/>
        </p:nvSpPr>
        <p:spPr>
          <a:xfrm>
            <a:off x="649224" y="2267712"/>
            <a:ext cx="1463040" cy="256032"/>
          </a:xfrm>
          <a:prstGeom prst="rect">
            <a:avLst/>
          </a:prstGeom>
          <a:noFill/>
          <a:ln/>
        </p:spPr>
        <p:txBody>
          <a:bodyPr wrap="square" lIns="0" tIns="0" rIns="0" bIns="0" rtlCol="0" anchor="ctr"/>
          <a:lstStyle/>
          <a:p>
            <a:pPr indent="0" marL="0">
              <a:buNone/>
            </a:pPr>
            <a:r>
              <a:rPr lang="en-US" sz="1400" b="1" dirty="0">
                <a:solidFill>
                  <a:srgbClr val="19140F"/>
                </a:solidFill>
                <a:latin typeface="Georgia" pitchFamily="34" charset="0"/>
                <a:ea typeface="Georgia" pitchFamily="34" charset="-122"/>
                <a:cs typeface="Georgia" pitchFamily="34" charset="-120"/>
              </a:rPr>
              <a:t>$12,480,000</a:t>
            </a:r>
            <a:endParaRPr lang="en-US" sz="1400" dirty="0"/>
          </a:p>
        </p:txBody>
      </p:sp>
      <p:sp>
        <p:nvSpPr>
          <p:cNvPr id="13" name="Text 11"/>
          <p:cNvSpPr/>
          <p:nvPr/>
        </p:nvSpPr>
        <p:spPr>
          <a:xfrm>
            <a:off x="2148840" y="2304288"/>
            <a:ext cx="2103120" cy="329184"/>
          </a:xfrm>
          <a:prstGeom prst="rect">
            <a:avLst/>
          </a:prstGeom>
          <a:noFill/>
          <a:ln/>
        </p:spPr>
        <p:txBody>
          <a:bodyPr wrap="square" lIns="0" tIns="0" rIns="0" bIns="0" rtlCol="0" anchor="ctr"/>
          <a:lstStyle/>
          <a:p>
            <a:pPr indent="0" marL="0">
              <a:lnSpc>
                <a:spcPct val="102000"/>
              </a:lnSpc>
              <a:buNone/>
            </a:pPr>
            <a:r>
              <a:rPr lang="en-US" sz="950" dirty="0">
                <a:solidFill>
                  <a:srgbClr val="58503F"/>
                </a:solidFill>
                <a:latin typeface="Calibri" pitchFamily="34" charset="0"/>
                <a:ea typeface="Calibri" pitchFamily="34" charset="-122"/>
                <a:cs typeface="Calibri" pitchFamily="34" charset="-120"/>
              </a:rPr>
              <a:t>NAV exposed to forced sale — 41×</a:t>
            </a:r>
            <a:endParaRPr lang="en-US" sz="950" dirty="0"/>
          </a:p>
        </p:txBody>
      </p:sp>
      <p:sp>
        <p:nvSpPr>
          <p:cNvPr id="14" name="Shape 12"/>
          <p:cNvSpPr/>
          <p:nvPr/>
        </p:nvSpPr>
        <p:spPr>
          <a:xfrm>
            <a:off x="502920" y="2779776"/>
            <a:ext cx="3840480" cy="493776"/>
          </a:xfrm>
          <a:prstGeom prst="rect">
            <a:avLst/>
          </a:prstGeom>
          <a:solidFill>
            <a:srgbClr val="FFFDF8"/>
          </a:solidFill>
          <a:ln w="12700">
            <a:solidFill>
              <a:srgbClr val="DDD2B8"/>
            </a:solidFill>
            <a:prstDash val="solid"/>
          </a:ln>
        </p:spPr>
      </p:sp>
      <p:sp>
        <p:nvSpPr>
          <p:cNvPr id="15" name="Shape 13"/>
          <p:cNvSpPr/>
          <p:nvPr/>
        </p:nvSpPr>
        <p:spPr>
          <a:xfrm>
            <a:off x="502920" y="2779776"/>
            <a:ext cx="41148" cy="493776"/>
          </a:xfrm>
          <a:prstGeom prst="rect">
            <a:avLst/>
          </a:prstGeom>
          <a:solidFill>
            <a:srgbClr val="9C2B1F"/>
          </a:solidFill>
          <a:ln/>
        </p:spPr>
      </p:sp>
      <p:sp>
        <p:nvSpPr>
          <p:cNvPr id="16" name="Text 14"/>
          <p:cNvSpPr/>
          <p:nvPr/>
        </p:nvSpPr>
        <p:spPr>
          <a:xfrm>
            <a:off x="649224" y="2834640"/>
            <a:ext cx="1463040" cy="256032"/>
          </a:xfrm>
          <a:prstGeom prst="rect">
            <a:avLst/>
          </a:prstGeom>
          <a:noFill/>
          <a:ln/>
        </p:spPr>
        <p:txBody>
          <a:bodyPr wrap="square" lIns="0" tIns="0" rIns="0" bIns="0" rtlCol="0" anchor="ctr"/>
          <a:lstStyle/>
          <a:p>
            <a:pPr indent="0" marL="0">
              <a:buNone/>
            </a:pPr>
            <a:r>
              <a:rPr lang="en-US" sz="1400" b="1" dirty="0">
                <a:solidFill>
                  <a:srgbClr val="19140F"/>
                </a:solidFill>
                <a:latin typeface="Georgia" pitchFamily="34" charset="0"/>
                <a:ea typeface="Georgia" pitchFamily="34" charset="-122"/>
                <a:cs typeface="Georgia" pitchFamily="34" charset="-120"/>
              </a:rPr>
              <a:t>~$2.5M</a:t>
            </a:r>
            <a:endParaRPr lang="en-US" sz="1400" dirty="0"/>
          </a:p>
        </p:txBody>
      </p:sp>
      <p:sp>
        <p:nvSpPr>
          <p:cNvPr id="17" name="Text 15"/>
          <p:cNvSpPr/>
          <p:nvPr/>
        </p:nvSpPr>
        <p:spPr>
          <a:xfrm>
            <a:off x="2148840" y="2871216"/>
            <a:ext cx="2103120" cy="329184"/>
          </a:xfrm>
          <a:prstGeom prst="rect">
            <a:avLst/>
          </a:prstGeom>
          <a:noFill/>
          <a:ln/>
        </p:spPr>
        <p:txBody>
          <a:bodyPr wrap="square" lIns="0" tIns="0" rIns="0" bIns="0" rtlCol="0" anchor="ctr"/>
          <a:lstStyle/>
          <a:p>
            <a:pPr indent="0" marL="0">
              <a:lnSpc>
                <a:spcPct val="102000"/>
              </a:lnSpc>
              <a:buNone/>
            </a:pPr>
            <a:r>
              <a:rPr lang="en-US" sz="950" dirty="0">
                <a:solidFill>
                  <a:srgbClr val="58503F"/>
                </a:solidFill>
                <a:latin typeface="Calibri" pitchFamily="34" charset="0"/>
                <a:ea typeface="Calibri" pitchFamily="34" charset="-122"/>
                <a:cs typeface="Calibri" pitchFamily="34" charset="-120"/>
              </a:rPr>
              <a:t>preserved by avoiding one 20% forced drawdown</a:t>
            </a:r>
            <a:endParaRPr lang="en-US" sz="950" dirty="0"/>
          </a:p>
        </p:txBody>
      </p:sp>
      <p:sp>
        <p:nvSpPr>
          <p:cNvPr id="18" name="Shape 16"/>
          <p:cNvSpPr/>
          <p:nvPr/>
        </p:nvSpPr>
        <p:spPr>
          <a:xfrm>
            <a:off x="502920" y="3364992"/>
            <a:ext cx="3840480" cy="548640"/>
          </a:xfrm>
          <a:prstGeom prst="rect">
            <a:avLst/>
          </a:prstGeom>
          <a:solidFill>
            <a:srgbClr val="F6DED6"/>
          </a:solidFill>
          <a:ln/>
        </p:spPr>
      </p:sp>
      <p:sp>
        <p:nvSpPr>
          <p:cNvPr id="19" name="Text 17"/>
          <p:cNvSpPr/>
          <p:nvPr/>
        </p:nvSpPr>
        <p:spPr>
          <a:xfrm>
            <a:off x="649224" y="3456432"/>
            <a:ext cx="3566160" cy="384048"/>
          </a:xfrm>
          <a:prstGeom prst="rect">
            <a:avLst/>
          </a:prstGeom>
          <a:noFill/>
          <a:ln/>
        </p:spPr>
        <p:txBody>
          <a:bodyPr wrap="square" lIns="0" tIns="0" rIns="0" bIns="0" rtlCol="0" anchor="ctr"/>
          <a:lstStyle/>
          <a:p>
            <a:pPr indent="0" marL="0">
              <a:lnSpc>
                <a:spcPct val="104000"/>
              </a:lnSpc>
              <a:buNone/>
            </a:pPr>
            <a:r>
              <a:rPr lang="en-US" sz="1100" b="1" dirty="0">
                <a:solidFill>
                  <a:srgbClr val="5C1710"/>
                </a:solidFill>
                <a:latin typeface="Calibri" pitchFamily="34" charset="0"/>
                <a:ea typeface="Calibri" pitchFamily="34" charset="-122"/>
                <a:cs typeface="Calibri" pitchFamily="34" charset="-120"/>
              </a:rPr>
              <a:t>At a $24k subscription, one avoided event returns ~100×.</a:t>
            </a:r>
            <a:endParaRPr lang="en-US" sz="1100" dirty="0"/>
          </a:p>
        </p:txBody>
      </p:sp>
      <p:sp>
        <p:nvSpPr>
          <p:cNvPr id="20" name="Text 18"/>
          <p:cNvSpPr/>
          <p:nvPr/>
        </p:nvSpPr>
        <p:spPr>
          <a:xfrm>
            <a:off x="4709160" y="1371600"/>
            <a:ext cx="3931920" cy="201168"/>
          </a:xfrm>
          <a:prstGeom prst="rect">
            <a:avLst/>
          </a:prstGeom>
          <a:noFill/>
          <a:ln/>
        </p:spPr>
        <p:txBody>
          <a:bodyPr wrap="square" lIns="0" tIns="0" rIns="0" bIns="0" rtlCol="0" anchor="ctr"/>
          <a:lstStyle/>
          <a:p>
            <a:pPr indent="0" marL="0">
              <a:buNone/>
            </a:pPr>
            <a:r>
              <a:rPr lang="en-US" sz="900" b="1" spc="120" kern="0" dirty="0">
                <a:solidFill>
                  <a:srgbClr val="9C2B1F"/>
                </a:solidFill>
                <a:latin typeface="Calibri" pitchFamily="34" charset="0"/>
                <a:ea typeface="Calibri" pitchFamily="34" charset="-122"/>
                <a:cs typeface="Calibri" pitchFamily="34" charset="-120"/>
              </a:rPr>
              <a:t>MARKET SIZE — MODELLED, ASSUMPTIONS STATED</a:t>
            </a:r>
            <a:endParaRPr lang="en-US" sz="900" dirty="0"/>
          </a:p>
        </p:txBody>
      </p:sp>
      <p:sp>
        <p:nvSpPr>
          <p:cNvPr id="21" name="Text 19"/>
          <p:cNvSpPr/>
          <p:nvPr/>
        </p:nvSpPr>
        <p:spPr>
          <a:xfrm>
            <a:off x="4709160" y="1664208"/>
            <a:ext cx="2926080" cy="201168"/>
          </a:xfrm>
          <a:prstGeom prst="rect">
            <a:avLst/>
          </a:prstGeom>
          <a:noFill/>
          <a:ln/>
        </p:spPr>
        <p:txBody>
          <a:bodyPr wrap="square" lIns="0" tIns="0" rIns="0" bIns="0" rtlCol="0" anchor="ctr"/>
          <a:lstStyle/>
          <a:p>
            <a:pPr indent="0" marL="0">
              <a:buNone/>
            </a:pPr>
            <a:r>
              <a:rPr lang="en-US" sz="1000" b="1" dirty="0">
                <a:solidFill>
                  <a:srgbClr val="19140F"/>
                </a:solidFill>
                <a:latin typeface="Calibri" pitchFamily="34" charset="0"/>
                <a:ea typeface="Calibri" pitchFamily="34" charset="-122"/>
                <a:cs typeface="Calibri" pitchFamily="34" charset="-120"/>
              </a:rPr>
              <a:t>Beachhead — single family offices</a:t>
            </a:r>
            <a:endParaRPr lang="en-US" sz="1000" dirty="0"/>
          </a:p>
        </p:txBody>
      </p:sp>
      <p:sp>
        <p:nvSpPr>
          <p:cNvPr id="22" name="Text 20"/>
          <p:cNvSpPr/>
          <p:nvPr/>
        </p:nvSpPr>
        <p:spPr>
          <a:xfrm>
            <a:off x="7680960" y="1664208"/>
            <a:ext cx="960120" cy="201168"/>
          </a:xfrm>
          <a:prstGeom prst="rect">
            <a:avLst/>
          </a:prstGeom>
          <a:noFill/>
          <a:ln/>
        </p:spPr>
        <p:txBody>
          <a:bodyPr wrap="square" lIns="0" tIns="0" rIns="0" bIns="0" rtlCol="0" anchor="ctr"/>
          <a:lstStyle/>
          <a:p>
            <a:pPr algn="r" indent="0" marL="0">
              <a:buNone/>
            </a:pPr>
            <a:r>
              <a:rPr lang="en-US" sz="1200" b="1" dirty="0">
                <a:solidFill>
                  <a:srgbClr val="9C2B1F"/>
                </a:solidFill>
                <a:latin typeface="Georgia" pitchFamily="34" charset="0"/>
                <a:ea typeface="Georgia" pitchFamily="34" charset="-122"/>
                <a:cs typeface="Georgia" pitchFamily="34" charset="-120"/>
              </a:rPr>
              <a:t>$0.19B</a:t>
            </a:r>
            <a:endParaRPr lang="en-US" sz="1200" dirty="0"/>
          </a:p>
        </p:txBody>
      </p:sp>
      <p:sp>
        <p:nvSpPr>
          <p:cNvPr id="23" name="Shape 21"/>
          <p:cNvSpPr/>
          <p:nvPr/>
        </p:nvSpPr>
        <p:spPr>
          <a:xfrm>
            <a:off x="4709160" y="1901952"/>
            <a:ext cx="3931920" cy="155448"/>
          </a:xfrm>
          <a:prstGeom prst="rect">
            <a:avLst/>
          </a:prstGeom>
          <a:solidFill>
            <a:srgbClr val="E6DDC8"/>
          </a:solidFill>
          <a:ln/>
        </p:spPr>
      </p:sp>
      <p:sp>
        <p:nvSpPr>
          <p:cNvPr id="24" name="Shape 22"/>
          <p:cNvSpPr/>
          <p:nvPr/>
        </p:nvSpPr>
        <p:spPr>
          <a:xfrm>
            <a:off x="4709160" y="1901952"/>
            <a:ext cx="1051560" cy="155448"/>
          </a:xfrm>
          <a:prstGeom prst="rect">
            <a:avLst/>
          </a:prstGeom>
          <a:solidFill>
            <a:srgbClr val="9C2B1F"/>
          </a:solidFill>
          <a:ln/>
        </p:spPr>
      </p:sp>
      <p:sp>
        <p:nvSpPr>
          <p:cNvPr id="25" name="Text 23"/>
          <p:cNvSpPr/>
          <p:nvPr/>
        </p:nvSpPr>
        <p:spPr>
          <a:xfrm>
            <a:off x="4709160" y="2075688"/>
            <a:ext cx="3931920" cy="182880"/>
          </a:xfrm>
          <a:prstGeom prst="rect">
            <a:avLst/>
          </a:prstGeom>
          <a:noFill/>
          <a:ln/>
        </p:spPr>
        <p:txBody>
          <a:bodyPr wrap="square" lIns="0" tIns="0" rIns="0" bIns="0" rtlCol="0" anchor="ctr"/>
          <a:lstStyle/>
          <a:p>
            <a:pPr indent="0" marL="0">
              <a:buNone/>
            </a:pPr>
            <a:r>
              <a:rPr lang="en-US" sz="850" i="1" dirty="0">
                <a:solidFill>
                  <a:srgbClr val="948A74"/>
                </a:solidFill>
                <a:latin typeface="Calibri" pitchFamily="34" charset="0"/>
                <a:ea typeface="Calibri" pitchFamily="34" charset="-122"/>
                <a:cs typeface="Calibri" pitchFamily="34" charset="-120"/>
              </a:rPr>
              <a:t>~8,000 globally × $24k</a:t>
            </a:r>
            <a:endParaRPr lang="en-US" sz="850" dirty="0"/>
          </a:p>
        </p:txBody>
      </p:sp>
      <p:sp>
        <p:nvSpPr>
          <p:cNvPr id="26" name="Text 24"/>
          <p:cNvSpPr/>
          <p:nvPr/>
        </p:nvSpPr>
        <p:spPr>
          <a:xfrm>
            <a:off x="4709160" y="2377440"/>
            <a:ext cx="2926080" cy="201168"/>
          </a:xfrm>
          <a:prstGeom prst="rect">
            <a:avLst/>
          </a:prstGeom>
          <a:noFill/>
          <a:ln/>
        </p:spPr>
        <p:txBody>
          <a:bodyPr wrap="square" lIns="0" tIns="0" rIns="0" bIns="0" rtlCol="0" anchor="ctr"/>
          <a:lstStyle/>
          <a:p>
            <a:pPr indent="0" marL="0">
              <a:buNone/>
            </a:pPr>
            <a:r>
              <a:rPr lang="en-US" sz="1000" b="1" dirty="0">
                <a:solidFill>
                  <a:srgbClr val="19140F"/>
                </a:solidFill>
                <a:latin typeface="Calibri" pitchFamily="34" charset="0"/>
                <a:ea typeface="Calibri" pitchFamily="34" charset="-122"/>
                <a:cs typeface="Calibri" pitchFamily="34" charset="-120"/>
              </a:rPr>
              <a:t>Expansion — MFOs and RIAs with alts</a:t>
            </a:r>
            <a:endParaRPr lang="en-US" sz="1000" dirty="0"/>
          </a:p>
        </p:txBody>
      </p:sp>
      <p:sp>
        <p:nvSpPr>
          <p:cNvPr id="27" name="Text 25"/>
          <p:cNvSpPr/>
          <p:nvPr/>
        </p:nvSpPr>
        <p:spPr>
          <a:xfrm>
            <a:off x="7680960" y="2377440"/>
            <a:ext cx="960120" cy="201168"/>
          </a:xfrm>
          <a:prstGeom prst="rect">
            <a:avLst/>
          </a:prstGeom>
          <a:noFill/>
          <a:ln/>
        </p:spPr>
        <p:txBody>
          <a:bodyPr wrap="square" lIns="0" tIns="0" rIns="0" bIns="0" rtlCol="0" anchor="ctr"/>
          <a:lstStyle/>
          <a:p>
            <a:pPr algn="r" indent="0" marL="0">
              <a:buNone/>
            </a:pPr>
            <a:r>
              <a:rPr lang="en-US" sz="1200" b="1" dirty="0">
                <a:solidFill>
                  <a:srgbClr val="A8641A"/>
                </a:solidFill>
                <a:latin typeface="Georgia" pitchFamily="34" charset="0"/>
                <a:ea typeface="Georgia" pitchFamily="34" charset="-122"/>
                <a:cs typeface="Georgia" pitchFamily="34" charset="-120"/>
              </a:rPr>
              <a:t>$0.54B</a:t>
            </a:r>
            <a:endParaRPr lang="en-US" sz="1200" dirty="0"/>
          </a:p>
        </p:txBody>
      </p:sp>
      <p:sp>
        <p:nvSpPr>
          <p:cNvPr id="28" name="Shape 26"/>
          <p:cNvSpPr/>
          <p:nvPr/>
        </p:nvSpPr>
        <p:spPr>
          <a:xfrm>
            <a:off x="4709160" y="2615184"/>
            <a:ext cx="3931920" cy="155448"/>
          </a:xfrm>
          <a:prstGeom prst="rect">
            <a:avLst/>
          </a:prstGeom>
          <a:solidFill>
            <a:srgbClr val="E6DDC8"/>
          </a:solidFill>
          <a:ln/>
        </p:spPr>
      </p:sp>
      <p:sp>
        <p:nvSpPr>
          <p:cNvPr id="29" name="Shape 27"/>
          <p:cNvSpPr/>
          <p:nvPr/>
        </p:nvSpPr>
        <p:spPr>
          <a:xfrm>
            <a:off x="4709160" y="2615184"/>
            <a:ext cx="2148840" cy="155448"/>
          </a:xfrm>
          <a:prstGeom prst="rect">
            <a:avLst/>
          </a:prstGeom>
          <a:solidFill>
            <a:srgbClr val="A8641A"/>
          </a:solidFill>
          <a:ln/>
        </p:spPr>
      </p:sp>
      <p:sp>
        <p:nvSpPr>
          <p:cNvPr id="30" name="Text 28"/>
          <p:cNvSpPr/>
          <p:nvPr/>
        </p:nvSpPr>
        <p:spPr>
          <a:xfrm>
            <a:off x="4709160" y="2788920"/>
            <a:ext cx="3931920" cy="182880"/>
          </a:xfrm>
          <a:prstGeom prst="rect">
            <a:avLst/>
          </a:prstGeom>
          <a:noFill/>
          <a:ln/>
        </p:spPr>
        <p:txBody>
          <a:bodyPr wrap="square" lIns="0" tIns="0" rIns="0" bIns="0" rtlCol="0" anchor="ctr"/>
          <a:lstStyle/>
          <a:p>
            <a:pPr indent="0" marL="0">
              <a:buNone/>
            </a:pPr>
            <a:r>
              <a:rPr lang="en-US" sz="850" i="1" dirty="0">
                <a:solidFill>
                  <a:srgbClr val="948A74"/>
                </a:solidFill>
                <a:latin typeface="Calibri" pitchFamily="34" charset="0"/>
                <a:ea typeface="Calibri" pitchFamily="34" charset="-122"/>
                <a:cs typeface="Calibri" pitchFamily="34" charset="-120"/>
              </a:rPr>
              <a:t>~30,000 firms × $18k</a:t>
            </a:r>
            <a:endParaRPr lang="en-US" sz="850" dirty="0"/>
          </a:p>
        </p:txBody>
      </p:sp>
      <p:sp>
        <p:nvSpPr>
          <p:cNvPr id="31" name="Text 29"/>
          <p:cNvSpPr/>
          <p:nvPr/>
        </p:nvSpPr>
        <p:spPr>
          <a:xfrm>
            <a:off x="4709160" y="3090672"/>
            <a:ext cx="2926080" cy="201168"/>
          </a:xfrm>
          <a:prstGeom prst="rect">
            <a:avLst/>
          </a:prstGeom>
          <a:noFill/>
          <a:ln/>
        </p:spPr>
        <p:txBody>
          <a:bodyPr wrap="square" lIns="0" tIns="0" rIns="0" bIns="0" rtlCol="0" anchor="ctr"/>
          <a:lstStyle/>
          <a:p>
            <a:pPr indent="0" marL="0">
              <a:buNone/>
            </a:pPr>
            <a:r>
              <a:rPr lang="en-US" sz="1000" b="1" dirty="0">
                <a:solidFill>
                  <a:srgbClr val="19140F"/>
                </a:solidFill>
                <a:latin typeface="Calibri" pitchFamily="34" charset="0"/>
                <a:ea typeface="Calibri" pitchFamily="34" charset="-122"/>
                <a:cs typeface="Calibri" pitchFamily="34" charset="-120"/>
              </a:rPr>
              <a:t>Platform — allocators in private markets</a:t>
            </a:r>
            <a:endParaRPr lang="en-US" sz="1000" dirty="0"/>
          </a:p>
        </p:txBody>
      </p:sp>
      <p:sp>
        <p:nvSpPr>
          <p:cNvPr id="32" name="Text 30"/>
          <p:cNvSpPr/>
          <p:nvPr/>
        </p:nvSpPr>
        <p:spPr>
          <a:xfrm>
            <a:off x="7680960" y="3090672"/>
            <a:ext cx="960120" cy="201168"/>
          </a:xfrm>
          <a:prstGeom prst="rect">
            <a:avLst/>
          </a:prstGeom>
          <a:noFill/>
          <a:ln/>
        </p:spPr>
        <p:txBody>
          <a:bodyPr wrap="square" lIns="0" tIns="0" rIns="0" bIns="0" rtlCol="0" anchor="ctr"/>
          <a:lstStyle/>
          <a:p>
            <a:pPr algn="r" indent="0" marL="0">
              <a:buNone/>
            </a:pPr>
            <a:r>
              <a:rPr lang="en-US" sz="1200" b="1" dirty="0">
                <a:solidFill>
                  <a:srgbClr val="3D5164"/>
                </a:solidFill>
                <a:latin typeface="Georgia" pitchFamily="34" charset="0"/>
                <a:ea typeface="Georgia" pitchFamily="34" charset="-122"/>
                <a:cs typeface="Georgia" pitchFamily="34" charset="-120"/>
              </a:rPr>
              <a:t>$1.00B</a:t>
            </a:r>
            <a:endParaRPr lang="en-US" sz="1200" dirty="0"/>
          </a:p>
        </p:txBody>
      </p:sp>
      <p:sp>
        <p:nvSpPr>
          <p:cNvPr id="33" name="Shape 31"/>
          <p:cNvSpPr/>
          <p:nvPr/>
        </p:nvSpPr>
        <p:spPr>
          <a:xfrm>
            <a:off x="4709160" y="3328416"/>
            <a:ext cx="3931920" cy="155448"/>
          </a:xfrm>
          <a:prstGeom prst="rect">
            <a:avLst/>
          </a:prstGeom>
          <a:solidFill>
            <a:srgbClr val="E6DDC8"/>
          </a:solidFill>
          <a:ln/>
        </p:spPr>
      </p:sp>
      <p:sp>
        <p:nvSpPr>
          <p:cNvPr id="34" name="Shape 32"/>
          <p:cNvSpPr/>
          <p:nvPr/>
        </p:nvSpPr>
        <p:spPr>
          <a:xfrm>
            <a:off x="4709160" y="3328416"/>
            <a:ext cx="3931920" cy="155448"/>
          </a:xfrm>
          <a:prstGeom prst="rect">
            <a:avLst/>
          </a:prstGeom>
          <a:solidFill>
            <a:srgbClr val="3D5164"/>
          </a:solidFill>
          <a:ln/>
        </p:spPr>
      </p:sp>
      <p:sp>
        <p:nvSpPr>
          <p:cNvPr id="35" name="Text 33"/>
          <p:cNvSpPr/>
          <p:nvPr/>
        </p:nvSpPr>
        <p:spPr>
          <a:xfrm>
            <a:off x="4709160" y="3502152"/>
            <a:ext cx="3931920" cy="182880"/>
          </a:xfrm>
          <a:prstGeom prst="rect">
            <a:avLst/>
          </a:prstGeom>
          <a:noFill/>
          <a:ln/>
        </p:spPr>
        <p:txBody>
          <a:bodyPr wrap="square" lIns="0" tIns="0" rIns="0" bIns="0" rtlCol="0" anchor="ctr"/>
          <a:lstStyle/>
          <a:p>
            <a:pPr indent="0" marL="0">
              <a:buNone/>
            </a:pPr>
            <a:r>
              <a:rPr lang="en-US" sz="850" i="1" dirty="0">
                <a:solidFill>
                  <a:srgbClr val="948A74"/>
                </a:solidFill>
                <a:latin typeface="Calibri" pitchFamily="34" charset="0"/>
                <a:ea typeface="Calibri" pitchFamily="34" charset="-122"/>
                <a:cs typeface="Calibri" pitchFamily="34" charset="-120"/>
              </a:rPr>
              <a:t>endowments, foundations, insurers</a:t>
            </a:r>
            <a:endParaRPr lang="en-US" sz="850" dirty="0"/>
          </a:p>
        </p:txBody>
      </p:sp>
      <p:sp>
        <p:nvSpPr>
          <p:cNvPr id="36" name="Shape 34"/>
          <p:cNvSpPr/>
          <p:nvPr/>
        </p:nvSpPr>
        <p:spPr>
          <a:xfrm>
            <a:off x="4709160" y="3803904"/>
            <a:ext cx="3931920" cy="402336"/>
          </a:xfrm>
          <a:prstGeom prst="rect">
            <a:avLst/>
          </a:prstGeom>
          <a:solidFill>
            <a:srgbClr val="FFFDF8"/>
          </a:solidFill>
          <a:ln w="12700">
            <a:solidFill>
              <a:srgbClr val="DDD2B8"/>
            </a:solidFill>
            <a:prstDash val="solid"/>
          </a:ln>
        </p:spPr>
      </p:sp>
      <p:sp>
        <p:nvSpPr>
          <p:cNvPr id="37" name="Text 35"/>
          <p:cNvSpPr/>
          <p:nvPr/>
        </p:nvSpPr>
        <p:spPr>
          <a:xfrm>
            <a:off x="4828032" y="3867912"/>
            <a:ext cx="3767328" cy="274320"/>
          </a:xfrm>
          <a:prstGeom prst="rect">
            <a:avLst/>
          </a:prstGeom>
          <a:noFill/>
          <a:ln/>
        </p:spPr>
        <p:txBody>
          <a:bodyPr wrap="square" lIns="0" tIns="0" rIns="0" bIns="0" rtlCol="0" anchor="ctr"/>
          <a:lstStyle/>
          <a:p>
            <a:pPr indent="0" marL="0">
              <a:buNone/>
            </a:pPr>
            <a:r>
              <a:rPr lang="en-US" sz="950" b="1" dirty="0">
                <a:solidFill>
                  <a:srgbClr val="19140F"/>
                </a:solidFill>
                <a:latin typeface="Calibri" pitchFamily="34" charset="0"/>
                <a:ea typeface="Calibri" pitchFamily="34" charset="-122"/>
                <a:cs typeface="Calibri" pitchFamily="34" charset="-120"/>
              </a:rPr>
              <a:t>Total addressable ≈ $1.7B  ·  3-yr SOM target $8–12M ARR</a:t>
            </a:r>
            <a:endParaRPr lang="en-US" sz="950" dirty="0"/>
          </a:p>
        </p:txBody>
      </p:sp>
      <p:sp>
        <p:nvSpPr>
          <p:cNvPr id="38" name="Text 36"/>
          <p:cNvSpPr/>
          <p:nvPr/>
        </p:nvSpPr>
        <p:spPr>
          <a:xfrm>
            <a:off x="502920" y="4722876"/>
            <a:ext cx="8138160" cy="274320"/>
          </a:xfrm>
          <a:prstGeom prst="rect">
            <a:avLst/>
          </a:prstGeom>
          <a:noFill/>
          <a:ln/>
        </p:spPr>
        <p:txBody>
          <a:bodyPr wrap="square" lIns="0" tIns="0" rIns="0" bIns="0" rtlCol="0" anchor="ctr"/>
          <a:lstStyle/>
          <a:p>
            <a:pPr indent="0" marL="0">
              <a:buNone/>
            </a:pPr>
            <a:r>
              <a:rPr lang="en-US" sz="900" i="1" dirty="0">
                <a:solidFill>
                  <a:srgbClr val="948A74"/>
                </a:solidFill>
                <a:latin typeface="Calibri" pitchFamily="34" charset="0"/>
                <a:ea typeface="Calibri" pitchFamily="34" charset="-122"/>
                <a:cs typeface="Calibri" pitchFamily="34" charset="-120"/>
              </a:rPr>
              <a:t>Firm counts are industry estimates requiring verification in diligence. ACV assumptions are ours. Customer-value figures are computed by the live product, not modelled.</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1E7"/>
        </a:solidFill>
      </p:bgPr>
    </p:bg>
    <p:spTree>
      <p:nvGrpSpPr>
        <p:cNvPr id="1" name=""/>
        <p:cNvGrpSpPr/>
        <p:nvPr/>
      </p:nvGrpSpPr>
      <p:grpSpPr>
        <a:xfrm>
          <a:off x="0" y="0"/>
          <a:ext cx="0" cy="0"/>
          <a:chOff x="0" y="0"/>
          <a:chExt cx="0" cy="0"/>
        </a:xfrm>
      </p:grpSpPr>
      <p:sp>
        <p:nvSpPr>
          <p:cNvPr id="2" name="Shape 0"/>
          <p:cNvSpPr/>
          <p:nvPr/>
        </p:nvSpPr>
        <p:spPr>
          <a:xfrm>
            <a:off x="0" y="0"/>
            <a:ext cx="82296" cy="5143500"/>
          </a:xfrm>
          <a:prstGeom prst="rect">
            <a:avLst/>
          </a:prstGeom>
          <a:solidFill>
            <a:srgbClr val="9C2B1F"/>
          </a:solidFill>
          <a:ln/>
        </p:spPr>
      </p:sp>
      <p:sp>
        <p:nvSpPr>
          <p:cNvPr id="3" name="Text 1"/>
          <p:cNvSpPr/>
          <p:nvPr/>
        </p:nvSpPr>
        <p:spPr>
          <a:xfrm>
            <a:off x="502920" y="310896"/>
            <a:ext cx="8138160" cy="219456"/>
          </a:xfrm>
          <a:prstGeom prst="rect">
            <a:avLst/>
          </a:prstGeom>
          <a:noFill/>
          <a:ln/>
        </p:spPr>
        <p:txBody>
          <a:bodyPr wrap="square" lIns="0" tIns="0" rIns="0" bIns="0" rtlCol="0" anchor="ctr"/>
          <a:lstStyle/>
          <a:p>
            <a:pPr indent="0" marL="0">
              <a:buNone/>
            </a:pPr>
            <a:r>
              <a:rPr lang="en-US" sz="1050" b="1" spc="220" kern="0" dirty="0">
                <a:solidFill>
                  <a:srgbClr val="9C2B1F"/>
                </a:solidFill>
                <a:latin typeface="Calibri" pitchFamily="34" charset="0"/>
                <a:ea typeface="Calibri" pitchFamily="34" charset="-122"/>
                <a:cs typeface="Calibri" pitchFamily="34" charset="-120"/>
              </a:rPr>
              <a:t>BUSINESS MODEL</a:t>
            </a:r>
            <a:endParaRPr lang="en-US" sz="1050" dirty="0"/>
          </a:p>
        </p:txBody>
      </p:sp>
      <p:sp>
        <p:nvSpPr>
          <p:cNvPr id="4" name="Text 2"/>
          <p:cNvSpPr/>
          <p:nvPr/>
        </p:nvSpPr>
        <p:spPr>
          <a:xfrm>
            <a:off x="502920" y="566928"/>
            <a:ext cx="8138160" cy="749808"/>
          </a:xfrm>
          <a:prstGeom prst="rect">
            <a:avLst/>
          </a:prstGeom>
          <a:noFill/>
          <a:ln/>
        </p:spPr>
        <p:txBody>
          <a:bodyPr wrap="square" lIns="0" tIns="0" rIns="0" bIns="0" rtlCol="0" anchor="ctr"/>
          <a:lstStyle/>
          <a:p>
            <a:pPr indent="0" marL="0">
              <a:lnSpc>
                <a:spcPct val="94000"/>
              </a:lnSpc>
              <a:buNone/>
            </a:pPr>
            <a:r>
              <a:rPr lang="en-US" sz="2800" b="1" dirty="0">
                <a:solidFill>
                  <a:srgbClr val="19140F"/>
                </a:solidFill>
                <a:latin typeface="Georgia" pitchFamily="34" charset="0"/>
                <a:ea typeface="Georgia" pitchFamily="34" charset="-122"/>
                <a:cs typeface="Georgia" pitchFamily="34" charset="-120"/>
              </a:rPr>
              <a:t>Sold by inbox, not by migration</a:t>
            </a:r>
            <a:endParaRPr lang="en-US" sz="2800" dirty="0"/>
          </a:p>
        </p:txBody>
      </p:sp>
      <p:sp>
        <p:nvSpPr>
          <p:cNvPr id="5" name="Text 3"/>
          <p:cNvSpPr/>
          <p:nvPr/>
        </p:nvSpPr>
        <p:spPr>
          <a:xfrm>
            <a:off x="502920" y="1371600"/>
            <a:ext cx="7863840" cy="676656"/>
          </a:xfrm>
          <a:prstGeom prst="rect">
            <a:avLst/>
          </a:prstGeom>
          <a:noFill/>
          <a:ln/>
        </p:spPr>
        <p:txBody>
          <a:bodyPr wrap="square" lIns="0" tIns="0" rIns="0" bIns="0" rtlCol="0" anchor="ctr"/>
          <a:lstStyle/>
          <a:p>
            <a:pPr indent="0" marL="0">
              <a:lnSpc>
                <a:spcPct val="110000"/>
              </a:lnSpc>
              <a:buNone/>
            </a:pPr>
            <a:r>
              <a:rPr lang="en-US" sz="1250" dirty="0">
                <a:solidFill>
                  <a:srgbClr val="58503F"/>
                </a:solidFill>
                <a:latin typeface="Calibri" pitchFamily="34" charset="0"/>
                <a:ea typeface="Calibri" pitchFamily="34" charset="-122"/>
                <a:cs typeface="Calibri" pitchFamily="34" charset="-120"/>
              </a:rPr>
              <a:t>Every incumbent is a platform you migrate onto: enterprise pricing, onboarding, data-mapping. They sell to family offices that already have staff and budget — which is not the 73% with the data problem.</a:t>
            </a:r>
            <a:endParaRPr lang="en-US" sz="1250" dirty="0"/>
          </a:p>
        </p:txBody>
      </p:sp>
      <p:sp>
        <p:nvSpPr>
          <p:cNvPr id="6" name="Shape 4"/>
          <p:cNvSpPr/>
          <p:nvPr/>
        </p:nvSpPr>
        <p:spPr>
          <a:xfrm>
            <a:off x="502920" y="2048256"/>
            <a:ext cx="2606040" cy="1298448"/>
          </a:xfrm>
          <a:prstGeom prst="rect">
            <a:avLst/>
          </a:prstGeom>
          <a:solidFill>
            <a:srgbClr val="FFFDF8"/>
          </a:solidFill>
          <a:ln w="12700">
            <a:solidFill>
              <a:srgbClr val="DDD2B8"/>
            </a:solidFill>
            <a:prstDash val="solid"/>
          </a:ln>
        </p:spPr>
      </p:sp>
      <p:sp>
        <p:nvSpPr>
          <p:cNvPr id="7" name="Shape 5"/>
          <p:cNvSpPr/>
          <p:nvPr/>
        </p:nvSpPr>
        <p:spPr>
          <a:xfrm>
            <a:off x="502920" y="2048256"/>
            <a:ext cx="2606040" cy="45720"/>
          </a:xfrm>
          <a:prstGeom prst="rect">
            <a:avLst/>
          </a:prstGeom>
          <a:solidFill>
            <a:srgbClr val="9C2B1F"/>
          </a:solidFill>
          <a:ln/>
        </p:spPr>
      </p:sp>
      <p:sp>
        <p:nvSpPr>
          <p:cNvPr id="8" name="Text 6"/>
          <p:cNvSpPr/>
          <p:nvPr/>
        </p:nvSpPr>
        <p:spPr>
          <a:xfrm>
            <a:off x="649224" y="2194560"/>
            <a:ext cx="2286000" cy="201168"/>
          </a:xfrm>
          <a:prstGeom prst="rect">
            <a:avLst/>
          </a:prstGeom>
          <a:noFill/>
          <a:ln/>
        </p:spPr>
        <p:txBody>
          <a:bodyPr wrap="square" lIns="0" tIns="0" rIns="0" bIns="0" rtlCol="0" anchor="ctr"/>
          <a:lstStyle/>
          <a:p>
            <a:pPr indent="0" marL="0">
              <a:buNone/>
            </a:pPr>
            <a:r>
              <a:rPr lang="en-US" sz="900" b="1" spc="100" kern="0" dirty="0">
                <a:solidFill>
                  <a:srgbClr val="9C2B1F"/>
                </a:solidFill>
                <a:latin typeface="Calibri" pitchFamily="34" charset="0"/>
                <a:ea typeface="Calibri" pitchFamily="34" charset="-122"/>
                <a:cs typeface="Calibri" pitchFamily="34" charset="-120"/>
              </a:rPr>
              <a:t>SINGLE OFFICE</a:t>
            </a:r>
            <a:endParaRPr lang="en-US" sz="900" dirty="0"/>
          </a:p>
        </p:txBody>
      </p:sp>
      <p:sp>
        <p:nvSpPr>
          <p:cNvPr id="9" name="Text 7"/>
          <p:cNvSpPr/>
          <p:nvPr/>
        </p:nvSpPr>
        <p:spPr>
          <a:xfrm>
            <a:off x="649224" y="2414016"/>
            <a:ext cx="2286000" cy="329184"/>
          </a:xfrm>
          <a:prstGeom prst="rect">
            <a:avLst/>
          </a:prstGeom>
          <a:noFill/>
          <a:ln/>
        </p:spPr>
        <p:txBody>
          <a:bodyPr wrap="square" lIns="0" tIns="0" rIns="0" bIns="0" rtlCol="0" anchor="ctr"/>
          <a:lstStyle/>
          <a:p>
            <a:pPr indent="0" marL="0">
              <a:buNone/>
            </a:pPr>
            <a:r>
              <a:rPr lang="en-US" sz="1800" b="1" dirty="0">
                <a:solidFill>
                  <a:srgbClr val="19140F"/>
                </a:solidFill>
                <a:latin typeface="Georgia" pitchFamily="34" charset="0"/>
                <a:ea typeface="Georgia" pitchFamily="34" charset="-122"/>
                <a:cs typeface="Georgia" pitchFamily="34" charset="-120"/>
              </a:rPr>
              <a:t>$18–30k</a:t>
            </a:r>
            <a:endParaRPr lang="en-US" sz="1800" dirty="0"/>
          </a:p>
        </p:txBody>
      </p:sp>
      <p:sp>
        <p:nvSpPr>
          <p:cNvPr id="10" name="Text 8"/>
          <p:cNvSpPr/>
          <p:nvPr/>
        </p:nvSpPr>
        <p:spPr>
          <a:xfrm>
            <a:off x="649224" y="2779776"/>
            <a:ext cx="2286000" cy="512064"/>
          </a:xfrm>
          <a:prstGeom prst="rect">
            <a:avLst/>
          </a:prstGeom>
          <a:noFill/>
          <a:ln/>
        </p:spPr>
        <p:txBody>
          <a:bodyPr wrap="square" lIns="0" tIns="0" rIns="0" bIns="0" rtlCol="0" anchor="ctr"/>
          <a:lstStyle/>
          <a:p>
            <a:pPr indent="0" marL="0">
              <a:lnSpc>
                <a:spcPct val="106000"/>
              </a:lnSpc>
              <a:buNone/>
            </a:pPr>
            <a:r>
              <a:rPr lang="en-US" sz="950" dirty="0">
                <a:solidFill>
                  <a:srgbClr val="58503F"/>
                </a:solidFill>
                <a:latin typeface="Calibri" pitchFamily="34" charset="0"/>
                <a:ea typeface="Calibri" pitchFamily="34" charset="-122"/>
                <a:cs typeface="Calibri" pitchFamily="34" charset="-120"/>
              </a:rPr>
              <a:t>One family office, unlimited documents, all findings</a:t>
            </a:r>
            <a:endParaRPr lang="en-US" sz="950" dirty="0"/>
          </a:p>
        </p:txBody>
      </p:sp>
      <p:sp>
        <p:nvSpPr>
          <p:cNvPr id="11" name="Shape 9"/>
          <p:cNvSpPr/>
          <p:nvPr/>
        </p:nvSpPr>
        <p:spPr>
          <a:xfrm>
            <a:off x="3264408" y="2048256"/>
            <a:ext cx="2606040" cy="1298448"/>
          </a:xfrm>
          <a:prstGeom prst="rect">
            <a:avLst/>
          </a:prstGeom>
          <a:solidFill>
            <a:srgbClr val="FFFDF8"/>
          </a:solidFill>
          <a:ln w="12700">
            <a:solidFill>
              <a:srgbClr val="DDD2B8"/>
            </a:solidFill>
            <a:prstDash val="solid"/>
          </a:ln>
        </p:spPr>
      </p:sp>
      <p:sp>
        <p:nvSpPr>
          <p:cNvPr id="12" name="Shape 10"/>
          <p:cNvSpPr/>
          <p:nvPr/>
        </p:nvSpPr>
        <p:spPr>
          <a:xfrm>
            <a:off x="3264408" y="2048256"/>
            <a:ext cx="2606040" cy="45720"/>
          </a:xfrm>
          <a:prstGeom prst="rect">
            <a:avLst/>
          </a:prstGeom>
          <a:solidFill>
            <a:srgbClr val="A8641A"/>
          </a:solidFill>
          <a:ln/>
        </p:spPr>
      </p:sp>
      <p:sp>
        <p:nvSpPr>
          <p:cNvPr id="13" name="Text 11"/>
          <p:cNvSpPr/>
          <p:nvPr/>
        </p:nvSpPr>
        <p:spPr>
          <a:xfrm>
            <a:off x="3410712" y="2194560"/>
            <a:ext cx="2286000" cy="201168"/>
          </a:xfrm>
          <a:prstGeom prst="rect">
            <a:avLst/>
          </a:prstGeom>
          <a:noFill/>
          <a:ln/>
        </p:spPr>
        <p:txBody>
          <a:bodyPr wrap="square" lIns="0" tIns="0" rIns="0" bIns="0" rtlCol="0" anchor="ctr"/>
          <a:lstStyle/>
          <a:p>
            <a:pPr indent="0" marL="0">
              <a:buNone/>
            </a:pPr>
            <a:r>
              <a:rPr lang="en-US" sz="900" b="1" spc="100" kern="0" dirty="0">
                <a:solidFill>
                  <a:srgbClr val="A8641A"/>
                </a:solidFill>
                <a:latin typeface="Calibri" pitchFamily="34" charset="0"/>
                <a:ea typeface="Calibri" pitchFamily="34" charset="-122"/>
                <a:cs typeface="Calibri" pitchFamily="34" charset="-120"/>
              </a:rPr>
              <a:t>MULTI-FAMILY</a:t>
            </a:r>
            <a:endParaRPr lang="en-US" sz="900" dirty="0"/>
          </a:p>
        </p:txBody>
      </p:sp>
      <p:sp>
        <p:nvSpPr>
          <p:cNvPr id="14" name="Text 12"/>
          <p:cNvSpPr/>
          <p:nvPr/>
        </p:nvSpPr>
        <p:spPr>
          <a:xfrm>
            <a:off x="3410712" y="2414016"/>
            <a:ext cx="2286000" cy="329184"/>
          </a:xfrm>
          <a:prstGeom prst="rect">
            <a:avLst/>
          </a:prstGeom>
          <a:noFill/>
          <a:ln/>
        </p:spPr>
        <p:txBody>
          <a:bodyPr wrap="square" lIns="0" tIns="0" rIns="0" bIns="0" rtlCol="0" anchor="ctr"/>
          <a:lstStyle/>
          <a:p>
            <a:pPr indent="0" marL="0">
              <a:buNone/>
            </a:pPr>
            <a:r>
              <a:rPr lang="en-US" sz="1800" b="1" dirty="0">
                <a:solidFill>
                  <a:srgbClr val="19140F"/>
                </a:solidFill>
                <a:latin typeface="Georgia" pitchFamily="34" charset="0"/>
                <a:ea typeface="Georgia" pitchFamily="34" charset="-122"/>
                <a:cs typeface="Georgia" pitchFamily="34" charset="-120"/>
              </a:rPr>
              <a:t>$60–120k</a:t>
            </a:r>
            <a:endParaRPr lang="en-US" sz="1800" dirty="0"/>
          </a:p>
        </p:txBody>
      </p:sp>
      <p:sp>
        <p:nvSpPr>
          <p:cNvPr id="15" name="Text 13"/>
          <p:cNvSpPr/>
          <p:nvPr/>
        </p:nvSpPr>
        <p:spPr>
          <a:xfrm>
            <a:off x="3410712" y="2779776"/>
            <a:ext cx="2286000" cy="512064"/>
          </a:xfrm>
          <a:prstGeom prst="rect">
            <a:avLst/>
          </a:prstGeom>
          <a:noFill/>
          <a:ln/>
        </p:spPr>
        <p:txBody>
          <a:bodyPr wrap="square" lIns="0" tIns="0" rIns="0" bIns="0" rtlCol="0" anchor="ctr"/>
          <a:lstStyle/>
          <a:p>
            <a:pPr indent="0" marL="0">
              <a:lnSpc>
                <a:spcPct val="106000"/>
              </a:lnSpc>
              <a:buNone/>
            </a:pPr>
            <a:r>
              <a:rPr lang="en-US" sz="950" dirty="0">
                <a:solidFill>
                  <a:srgbClr val="58503F"/>
                </a:solidFill>
                <a:latin typeface="Calibri" pitchFamily="34" charset="0"/>
                <a:ea typeface="Calibri" pitchFamily="34" charset="-122"/>
                <a:cs typeface="Calibri" pitchFamily="34" charset="-120"/>
              </a:rPr>
              <a:t>Per-client segregation, adviser seats, exports</a:t>
            </a:r>
            <a:endParaRPr lang="en-US" sz="950" dirty="0"/>
          </a:p>
        </p:txBody>
      </p:sp>
      <p:sp>
        <p:nvSpPr>
          <p:cNvPr id="16" name="Shape 14"/>
          <p:cNvSpPr/>
          <p:nvPr/>
        </p:nvSpPr>
        <p:spPr>
          <a:xfrm>
            <a:off x="6025896" y="2048256"/>
            <a:ext cx="2606040" cy="1298448"/>
          </a:xfrm>
          <a:prstGeom prst="rect">
            <a:avLst/>
          </a:prstGeom>
          <a:solidFill>
            <a:srgbClr val="FFFDF8"/>
          </a:solidFill>
          <a:ln w="12700">
            <a:solidFill>
              <a:srgbClr val="DDD2B8"/>
            </a:solidFill>
            <a:prstDash val="solid"/>
          </a:ln>
        </p:spPr>
      </p:sp>
      <p:sp>
        <p:nvSpPr>
          <p:cNvPr id="17" name="Shape 15"/>
          <p:cNvSpPr/>
          <p:nvPr/>
        </p:nvSpPr>
        <p:spPr>
          <a:xfrm>
            <a:off x="6025896" y="2048256"/>
            <a:ext cx="2606040" cy="45720"/>
          </a:xfrm>
          <a:prstGeom prst="rect">
            <a:avLst/>
          </a:prstGeom>
          <a:solidFill>
            <a:srgbClr val="3D5164"/>
          </a:solidFill>
          <a:ln/>
        </p:spPr>
      </p:sp>
      <p:sp>
        <p:nvSpPr>
          <p:cNvPr id="18" name="Text 16"/>
          <p:cNvSpPr/>
          <p:nvPr/>
        </p:nvSpPr>
        <p:spPr>
          <a:xfrm>
            <a:off x="6172200" y="2194560"/>
            <a:ext cx="2286000" cy="201168"/>
          </a:xfrm>
          <a:prstGeom prst="rect">
            <a:avLst/>
          </a:prstGeom>
          <a:noFill/>
          <a:ln/>
        </p:spPr>
        <p:txBody>
          <a:bodyPr wrap="square" lIns="0" tIns="0" rIns="0" bIns="0" rtlCol="0" anchor="ctr"/>
          <a:lstStyle/>
          <a:p>
            <a:pPr indent="0" marL="0">
              <a:buNone/>
            </a:pPr>
            <a:r>
              <a:rPr lang="en-US" sz="900" b="1" spc="100" kern="0" dirty="0">
                <a:solidFill>
                  <a:srgbClr val="3D5164"/>
                </a:solidFill>
                <a:latin typeface="Calibri" pitchFamily="34" charset="0"/>
                <a:ea typeface="Calibri" pitchFamily="34" charset="-122"/>
                <a:cs typeface="Calibri" pitchFamily="34" charset="-120"/>
              </a:rPr>
              <a:t>ALLOCATOR</a:t>
            </a:r>
            <a:endParaRPr lang="en-US" sz="900" dirty="0"/>
          </a:p>
        </p:txBody>
      </p:sp>
      <p:sp>
        <p:nvSpPr>
          <p:cNvPr id="19" name="Text 17"/>
          <p:cNvSpPr/>
          <p:nvPr/>
        </p:nvSpPr>
        <p:spPr>
          <a:xfrm>
            <a:off x="6172200" y="2414016"/>
            <a:ext cx="2286000" cy="329184"/>
          </a:xfrm>
          <a:prstGeom prst="rect">
            <a:avLst/>
          </a:prstGeom>
          <a:noFill/>
          <a:ln/>
        </p:spPr>
        <p:txBody>
          <a:bodyPr wrap="square" lIns="0" tIns="0" rIns="0" bIns="0" rtlCol="0" anchor="ctr"/>
          <a:lstStyle/>
          <a:p>
            <a:pPr indent="0" marL="0">
              <a:buNone/>
            </a:pPr>
            <a:r>
              <a:rPr lang="en-US" sz="1800" b="1" dirty="0">
                <a:solidFill>
                  <a:srgbClr val="19140F"/>
                </a:solidFill>
                <a:latin typeface="Georgia" pitchFamily="34" charset="0"/>
                <a:ea typeface="Georgia" pitchFamily="34" charset="-122"/>
                <a:cs typeface="Georgia" pitchFamily="34" charset="-120"/>
              </a:rPr>
              <a:t>Custom</a:t>
            </a:r>
            <a:endParaRPr lang="en-US" sz="1800" dirty="0"/>
          </a:p>
        </p:txBody>
      </p:sp>
      <p:sp>
        <p:nvSpPr>
          <p:cNvPr id="20" name="Text 18"/>
          <p:cNvSpPr/>
          <p:nvPr/>
        </p:nvSpPr>
        <p:spPr>
          <a:xfrm>
            <a:off x="6172200" y="2779776"/>
            <a:ext cx="2286000" cy="512064"/>
          </a:xfrm>
          <a:prstGeom prst="rect">
            <a:avLst/>
          </a:prstGeom>
          <a:noFill/>
          <a:ln/>
        </p:spPr>
        <p:txBody>
          <a:bodyPr wrap="square" lIns="0" tIns="0" rIns="0" bIns="0" rtlCol="0" anchor="ctr"/>
          <a:lstStyle/>
          <a:p>
            <a:pPr indent="0" marL="0">
              <a:lnSpc>
                <a:spcPct val="106000"/>
              </a:lnSpc>
              <a:buNone/>
            </a:pPr>
            <a:r>
              <a:rPr lang="en-US" sz="950" dirty="0">
                <a:solidFill>
                  <a:srgbClr val="58503F"/>
                </a:solidFill>
                <a:latin typeface="Calibri" pitchFamily="34" charset="0"/>
                <a:ea typeface="Calibri" pitchFamily="34" charset="-122"/>
                <a:cs typeface="Calibri" pitchFamily="34" charset="-120"/>
              </a:rPr>
              <a:t>API access, scheduled ingestion, audit exports</a:t>
            </a:r>
            <a:endParaRPr lang="en-US" sz="950" dirty="0"/>
          </a:p>
        </p:txBody>
      </p:sp>
      <p:sp>
        <p:nvSpPr>
          <p:cNvPr id="21" name="Text 19"/>
          <p:cNvSpPr/>
          <p:nvPr/>
        </p:nvSpPr>
        <p:spPr>
          <a:xfrm>
            <a:off x="502920" y="3493008"/>
            <a:ext cx="7863840" cy="457200"/>
          </a:xfrm>
          <a:prstGeom prst="rect">
            <a:avLst/>
          </a:prstGeom>
          <a:noFill/>
          <a:ln/>
        </p:spPr>
        <p:txBody>
          <a:bodyPr wrap="square" lIns="0" tIns="0" rIns="0" bIns="0" rtlCol="0" anchor="ctr"/>
          <a:lstStyle/>
          <a:p>
            <a:pPr indent="0" marL="0">
              <a:lnSpc>
                <a:spcPct val="108000"/>
              </a:lnSpc>
              <a:buNone/>
            </a:pPr>
            <a:r>
              <a:rPr lang="en-US" sz="1100" dirty="0">
                <a:solidFill>
                  <a:srgbClr val="19140F"/>
                </a:solidFill>
                <a:latin typeface="Calibri" pitchFamily="34" charset="0"/>
                <a:ea typeface="Calibri" pitchFamily="34" charset="-122"/>
                <a:cs typeface="Calibri" pitchFamily="34" charset="-120"/>
              </a:rPr>
              <a:t>Land: forward one statement, get an answer in 60 seconds — no procurement.    Expand: every new document deepens the graph and raises switching cost.</a:t>
            </a:r>
            <a:endParaRPr lang="en-US" sz="1100" dirty="0"/>
          </a:p>
        </p:txBody>
      </p:sp>
      <p:sp>
        <p:nvSpPr>
          <p:cNvPr id="22" name="Text 20"/>
          <p:cNvSpPr/>
          <p:nvPr/>
        </p:nvSpPr>
        <p:spPr>
          <a:xfrm>
            <a:off x="502920" y="4722876"/>
            <a:ext cx="8138160" cy="274320"/>
          </a:xfrm>
          <a:prstGeom prst="rect">
            <a:avLst/>
          </a:prstGeom>
          <a:noFill/>
          <a:ln/>
        </p:spPr>
        <p:txBody>
          <a:bodyPr wrap="square" lIns="0" tIns="0" rIns="0" bIns="0" rtlCol="0" anchor="ctr"/>
          <a:lstStyle/>
          <a:p>
            <a:pPr indent="0" marL="0">
              <a:buNone/>
            </a:pPr>
            <a:r>
              <a:rPr lang="en-US" sz="900" i="1" dirty="0">
                <a:solidFill>
                  <a:srgbClr val="948A74"/>
                </a:solidFill>
                <a:latin typeface="Calibri" pitchFamily="34" charset="0"/>
                <a:ea typeface="Calibri" pitchFamily="34" charset="-122"/>
                <a:cs typeface="Calibri" pitchFamily="34" charset="-120"/>
              </a:rPr>
              <a:t>Pricing is an assumption benchmarked below enterprise incumbents, deliberately positioned for the cohort that cannot buy them.</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9140F"/>
        </a:solidFill>
      </p:bgPr>
    </p:bg>
    <p:spTree>
      <p:nvGrpSpPr>
        <p:cNvPr id="1" name=""/>
        <p:cNvGrpSpPr/>
        <p:nvPr/>
      </p:nvGrpSpPr>
      <p:grpSpPr>
        <a:xfrm>
          <a:off x="0" y="0"/>
          <a:ext cx="0" cy="0"/>
          <a:chOff x="0" y="0"/>
          <a:chExt cx="0" cy="0"/>
        </a:xfrm>
      </p:grpSpPr>
      <p:sp>
        <p:nvSpPr>
          <p:cNvPr id="2" name="Shape 0"/>
          <p:cNvSpPr/>
          <p:nvPr/>
        </p:nvSpPr>
        <p:spPr>
          <a:xfrm>
            <a:off x="0" y="0"/>
            <a:ext cx="82296" cy="5143500"/>
          </a:xfrm>
          <a:prstGeom prst="rect">
            <a:avLst/>
          </a:prstGeom>
          <a:solidFill>
            <a:srgbClr val="9C2B1F"/>
          </a:solidFill>
          <a:ln/>
        </p:spPr>
      </p:sp>
      <p:sp>
        <p:nvSpPr>
          <p:cNvPr id="3" name="Text 1"/>
          <p:cNvSpPr/>
          <p:nvPr/>
        </p:nvSpPr>
        <p:spPr>
          <a:xfrm>
            <a:off x="502920" y="457200"/>
            <a:ext cx="8138160" cy="237744"/>
          </a:xfrm>
          <a:prstGeom prst="rect">
            <a:avLst/>
          </a:prstGeom>
          <a:noFill/>
          <a:ln/>
        </p:spPr>
        <p:txBody>
          <a:bodyPr wrap="square" lIns="0" tIns="0" rIns="0" bIns="0" rtlCol="0" anchor="ctr"/>
          <a:lstStyle/>
          <a:p>
            <a:pPr indent="0" marL="0">
              <a:buNone/>
            </a:pPr>
            <a:r>
              <a:rPr lang="en-US" sz="1050" b="1" spc="200" kern="0" dirty="0">
                <a:solidFill>
                  <a:srgbClr val="9C2B1F"/>
                </a:solidFill>
                <a:latin typeface="Calibri" pitchFamily="34" charset="0"/>
                <a:ea typeface="Calibri" pitchFamily="34" charset="-122"/>
                <a:cs typeface="Calibri" pitchFamily="34" charset="-120"/>
              </a:rPr>
              <a:t>STATUS AND ASK</a:t>
            </a:r>
            <a:endParaRPr lang="en-US" sz="1050" dirty="0"/>
          </a:p>
        </p:txBody>
      </p:sp>
      <p:sp>
        <p:nvSpPr>
          <p:cNvPr id="4" name="Text 2"/>
          <p:cNvSpPr/>
          <p:nvPr/>
        </p:nvSpPr>
        <p:spPr>
          <a:xfrm>
            <a:off x="502920" y="786384"/>
            <a:ext cx="5943600" cy="548640"/>
          </a:xfrm>
          <a:prstGeom prst="rect">
            <a:avLst/>
          </a:prstGeom>
          <a:noFill/>
          <a:ln/>
        </p:spPr>
        <p:txBody>
          <a:bodyPr wrap="square" lIns="0" tIns="0" rIns="0" bIns="0" rtlCol="0" anchor="ctr"/>
          <a:lstStyle/>
          <a:p>
            <a:pPr indent="0" marL="0">
              <a:buNone/>
            </a:pPr>
            <a:r>
              <a:rPr lang="en-US" sz="3000" b="1" dirty="0">
                <a:solidFill>
                  <a:srgbClr val="F5F1E7"/>
                </a:solidFill>
                <a:latin typeface="Georgia" pitchFamily="34" charset="0"/>
                <a:ea typeface="Georgia" pitchFamily="34" charset="-122"/>
                <a:cs typeface="Georgia" pitchFamily="34" charset="-120"/>
              </a:rPr>
              <a:t>Built, deployed, ingesting.</a:t>
            </a:r>
            <a:endParaRPr lang="en-US" sz="3000" dirty="0"/>
          </a:p>
        </p:txBody>
      </p:sp>
      <p:sp>
        <p:nvSpPr>
          <p:cNvPr id="5" name="Text 3"/>
          <p:cNvSpPr/>
          <p:nvPr/>
        </p:nvSpPr>
        <p:spPr>
          <a:xfrm>
            <a:off x="502920" y="1517904"/>
            <a:ext cx="3931920" cy="201168"/>
          </a:xfrm>
          <a:prstGeom prst="rect">
            <a:avLst/>
          </a:prstGeom>
          <a:noFill/>
          <a:ln/>
        </p:spPr>
        <p:txBody>
          <a:bodyPr wrap="square" lIns="0" tIns="0" rIns="0" bIns="0" rtlCol="0" anchor="ctr"/>
          <a:lstStyle/>
          <a:p>
            <a:pPr indent="0" marL="0">
              <a:buNone/>
            </a:pPr>
            <a:r>
              <a:rPr lang="en-US" sz="900" b="1" spc="120" kern="0" dirty="0">
                <a:solidFill>
                  <a:srgbClr val="948A74"/>
                </a:solidFill>
                <a:latin typeface="Calibri" pitchFamily="34" charset="0"/>
                <a:ea typeface="Calibri" pitchFamily="34" charset="-122"/>
                <a:cs typeface="Calibri" pitchFamily="34" charset="-120"/>
              </a:rPr>
              <a:t>SHIPPED</a:t>
            </a:r>
            <a:endParaRPr lang="en-US" sz="900" dirty="0"/>
          </a:p>
        </p:txBody>
      </p:sp>
      <p:sp>
        <p:nvSpPr>
          <p:cNvPr id="6" name="Text 4"/>
          <p:cNvSpPr/>
          <p:nvPr/>
        </p:nvSpPr>
        <p:spPr>
          <a:xfrm>
            <a:off x="502920" y="1773936"/>
            <a:ext cx="201168" cy="219456"/>
          </a:xfrm>
          <a:prstGeom prst="rect">
            <a:avLst/>
          </a:prstGeom>
          <a:noFill/>
          <a:ln/>
        </p:spPr>
        <p:txBody>
          <a:bodyPr wrap="square" lIns="0" tIns="0" rIns="0" bIns="0" rtlCol="0" anchor="ctr"/>
          <a:lstStyle/>
          <a:p>
            <a:pPr indent="0" marL="0">
              <a:buNone/>
            </a:pPr>
            <a:r>
              <a:rPr lang="en-US" sz="1100" dirty="0">
                <a:solidFill>
                  <a:srgbClr val="9C2B1F"/>
                </a:solidFill>
                <a:latin typeface="Calibri" pitchFamily="34" charset="0"/>
                <a:ea typeface="Calibri" pitchFamily="34" charset="-122"/>
                <a:cs typeface="Calibri" pitchFamily="34" charset="-120"/>
              </a:rPr>
              <a:t>—</a:t>
            </a:r>
            <a:endParaRPr lang="en-US" sz="1100" dirty="0"/>
          </a:p>
        </p:txBody>
      </p:sp>
      <p:sp>
        <p:nvSpPr>
          <p:cNvPr id="7" name="Text 5"/>
          <p:cNvSpPr/>
          <p:nvPr/>
        </p:nvSpPr>
        <p:spPr>
          <a:xfrm>
            <a:off x="740664" y="1773936"/>
            <a:ext cx="3749040" cy="402336"/>
          </a:xfrm>
          <a:prstGeom prst="rect">
            <a:avLst/>
          </a:prstGeom>
          <a:noFill/>
          <a:ln/>
        </p:spPr>
        <p:txBody>
          <a:bodyPr wrap="square" lIns="0" tIns="0" rIns="0" bIns="0" rtlCol="0" anchor="ctr"/>
          <a:lstStyle/>
          <a:p>
            <a:pPr indent="0" marL="0">
              <a:lnSpc>
                <a:spcPct val="104000"/>
              </a:lnSpc>
              <a:buNone/>
            </a:pPr>
            <a:r>
              <a:rPr lang="en-US" sz="1000" dirty="0">
                <a:solidFill>
                  <a:srgbClr val="C9BFA8"/>
                </a:solidFill>
                <a:latin typeface="Calibri" pitchFamily="34" charset="0"/>
                <a:ea typeface="Calibri" pitchFamily="34" charset="-122"/>
                <a:cs typeface="Calibri" pitchFamily="34" charset="-120"/>
              </a:rPr>
              <a:t>Live application ingesting PDFs and spreadsheets end to end</a:t>
            </a:r>
            <a:endParaRPr lang="en-US" sz="1000" dirty="0"/>
          </a:p>
        </p:txBody>
      </p:sp>
      <p:sp>
        <p:nvSpPr>
          <p:cNvPr id="8" name="Text 6"/>
          <p:cNvSpPr/>
          <p:nvPr/>
        </p:nvSpPr>
        <p:spPr>
          <a:xfrm>
            <a:off x="502920" y="2194560"/>
            <a:ext cx="201168" cy="219456"/>
          </a:xfrm>
          <a:prstGeom prst="rect">
            <a:avLst/>
          </a:prstGeom>
          <a:noFill/>
          <a:ln/>
        </p:spPr>
        <p:txBody>
          <a:bodyPr wrap="square" lIns="0" tIns="0" rIns="0" bIns="0" rtlCol="0" anchor="ctr"/>
          <a:lstStyle/>
          <a:p>
            <a:pPr indent="0" marL="0">
              <a:buNone/>
            </a:pPr>
            <a:r>
              <a:rPr lang="en-US" sz="1100" dirty="0">
                <a:solidFill>
                  <a:srgbClr val="9C2B1F"/>
                </a:solidFill>
                <a:latin typeface="Calibri" pitchFamily="34" charset="0"/>
                <a:ea typeface="Calibri" pitchFamily="34" charset="-122"/>
                <a:cs typeface="Calibri" pitchFamily="34" charset="-120"/>
              </a:rPr>
              <a:t>—</a:t>
            </a:r>
            <a:endParaRPr lang="en-US" sz="1100" dirty="0"/>
          </a:p>
        </p:txBody>
      </p:sp>
      <p:sp>
        <p:nvSpPr>
          <p:cNvPr id="9" name="Text 7"/>
          <p:cNvSpPr/>
          <p:nvPr/>
        </p:nvSpPr>
        <p:spPr>
          <a:xfrm>
            <a:off x="740664" y="2194560"/>
            <a:ext cx="3749040" cy="402336"/>
          </a:xfrm>
          <a:prstGeom prst="rect">
            <a:avLst/>
          </a:prstGeom>
          <a:noFill/>
          <a:ln/>
        </p:spPr>
        <p:txBody>
          <a:bodyPr wrap="square" lIns="0" tIns="0" rIns="0" bIns="0" rtlCol="0" anchor="ctr"/>
          <a:lstStyle/>
          <a:p>
            <a:pPr indent="0" marL="0">
              <a:lnSpc>
                <a:spcPct val="104000"/>
              </a:lnSpc>
              <a:buNone/>
            </a:pPr>
            <a:r>
              <a:rPr lang="en-US" sz="1000" dirty="0">
                <a:solidFill>
                  <a:srgbClr val="C9BFA8"/>
                </a:solidFill>
                <a:latin typeface="Calibri" pitchFamily="34" charset="0"/>
                <a:ea typeface="Calibri" pitchFamily="34" charset="-122"/>
                <a:cs typeface="Calibri" pitchFamily="34" charset="-120"/>
              </a:rPr>
              <a:t>Typed exposure graph with LLM entity resolution across spellings</a:t>
            </a:r>
            <a:endParaRPr lang="en-US" sz="1000" dirty="0"/>
          </a:p>
        </p:txBody>
      </p:sp>
      <p:sp>
        <p:nvSpPr>
          <p:cNvPr id="10" name="Text 8"/>
          <p:cNvSpPr/>
          <p:nvPr/>
        </p:nvSpPr>
        <p:spPr>
          <a:xfrm>
            <a:off x="502920" y="2615184"/>
            <a:ext cx="201168" cy="219456"/>
          </a:xfrm>
          <a:prstGeom prst="rect">
            <a:avLst/>
          </a:prstGeom>
          <a:noFill/>
          <a:ln/>
        </p:spPr>
        <p:txBody>
          <a:bodyPr wrap="square" lIns="0" tIns="0" rIns="0" bIns="0" rtlCol="0" anchor="ctr"/>
          <a:lstStyle/>
          <a:p>
            <a:pPr indent="0" marL="0">
              <a:buNone/>
            </a:pPr>
            <a:r>
              <a:rPr lang="en-US" sz="1100" dirty="0">
                <a:solidFill>
                  <a:srgbClr val="9C2B1F"/>
                </a:solidFill>
                <a:latin typeface="Calibri" pitchFamily="34" charset="0"/>
                <a:ea typeface="Calibri" pitchFamily="34" charset="-122"/>
                <a:cs typeface="Calibri" pitchFamily="34" charset="-120"/>
              </a:rPr>
              <a:t>—</a:t>
            </a:r>
            <a:endParaRPr lang="en-US" sz="1100" dirty="0"/>
          </a:p>
        </p:txBody>
      </p:sp>
      <p:sp>
        <p:nvSpPr>
          <p:cNvPr id="11" name="Text 9"/>
          <p:cNvSpPr/>
          <p:nvPr/>
        </p:nvSpPr>
        <p:spPr>
          <a:xfrm>
            <a:off x="740664" y="2615184"/>
            <a:ext cx="3749040" cy="402336"/>
          </a:xfrm>
          <a:prstGeom prst="rect">
            <a:avLst/>
          </a:prstGeom>
          <a:noFill/>
          <a:ln/>
        </p:spPr>
        <p:txBody>
          <a:bodyPr wrap="square" lIns="0" tIns="0" rIns="0" bIns="0" rtlCol="0" anchor="ctr"/>
          <a:lstStyle/>
          <a:p>
            <a:pPr indent="0" marL="0">
              <a:lnSpc>
                <a:spcPct val="104000"/>
              </a:lnSpc>
              <a:buNone/>
            </a:pPr>
            <a:r>
              <a:rPr lang="en-US" sz="1000" dirty="0">
                <a:solidFill>
                  <a:srgbClr val="C9BFA8"/>
                </a:solidFill>
                <a:latin typeface="Calibri" pitchFamily="34" charset="0"/>
                <a:ea typeface="Calibri" pitchFamily="34" charset="-122"/>
                <a:cs typeface="Calibri" pitchFamily="34" charset="-120"/>
              </a:rPr>
              <a:t>Findings derived from rules, not hardcoded — new documents produce new findings</a:t>
            </a:r>
            <a:endParaRPr lang="en-US" sz="1000" dirty="0"/>
          </a:p>
        </p:txBody>
      </p:sp>
      <p:sp>
        <p:nvSpPr>
          <p:cNvPr id="12" name="Text 10"/>
          <p:cNvSpPr/>
          <p:nvPr/>
        </p:nvSpPr>
        <p:spPr>
          <a:xfrm>
            <a:off x="502920" y="3035808"/>
            <a:ext cx="201168" cy="219456"/>
          </a:xfrm>
          <a:prstGeom prst="rect">
            <a:avLst/>
          </a:prstGeom>
          <a:noFill/>
          <a:ln/>
        </p:spPr>
        <p:txBody>
          <a:bodyPr wrap="square" lIns="0" tIns="0" rIns="0" bIns="0" rtlCol="0" anchor="ctr"/>
          <a:lstStyle/>
          <a:p>
            <a:pPr indent="0" marL="0">
              <a:buNone/>
            </a:pPr>
            <a:r>
              <a:rPr lang="en-US" sz="1100" dirty="0">
                <a:solidFill>
                  <a:srgbClr val="9C2B1F"/>
                </a:solidFill>
                <a:latin typeface="Calibri" pitchFamily="34" charset="0"/>
                <a:ea typeface="Calibri" pitchFamily="34" charset="-122"/>
                <a:cs typeface="Calibri" pitchFamily="34" charset="-120"/>
              </a:rPr>
              <a:t>—</a:t>
            </a:r>
            <a:endParaRPr lang="en-US" sz="1100" dirty="0"/>
          </a:p>
        </p:txBody>
      </p:sp>
      <p:sp>
        <p:nvSpPr>
          <p:cNvPr id="13" name="Text 11"/>
          <p:cNvSpPr/>
          <p:nvPr/>
        </p:nvSpPr>
        <p:spPr>
          <a:xfrm>
            <a:off x="740664" y="3035808"/>
            <a:ext cx="3749040" cy="402336"/>
          </a:xfrm>
          <a:prstGeom prst="rect">
            <a:avLst/>
          </a:prstGeom>
          <a:noFill/>
          <a:ln/>
        </p:spPr>
        <p:txBody>
          <a:bodyPr wrap="square" lIns="0" tIns="0" rIns="0" bIns="0" rtlCol="0" anchor="ctr"/>
          <a:lstStyle/>
          <a:p>
            <a:pPr indent="0" marL="0">
              <a:lnSpc>
                <a:spcPct val="104000"/>
              </a:lnSpc>
              <a:buNone/>
            </a:pPr>
            <a:r>
              <a:rPr lang="en-US" sz="1000" dirty="0">
                <a:solidFill>
                  <a:srgbClr val="C9BFA8"/>
                </a:solidFill>
                <a:latin typeface="Calibri" pitchFamily="34" charset="0"/>
                <a:ea typeface="Calibri" pitchFamily="34" charset="-122"/>
                <a:cs typeface="Calibri" pitchFamily="34" charset="-120"/>
              </a:rPr>
              <a:t>Liquidity stress model benchmarked to the Cambridge 3× standard</a:t>
            </a:r>
            <a:endParaRPr lang="en-US" sz="1000" dirty="0"/>
          </a:p>
        </p:txBody>
      </p:sp>
      <p:sp>
        <p:nvSpPr>
          <p:cNvPr id="14" name="Text 12"/>
          <p:cNvSpPr/>
          <p:nvPr/>
        </p:nvSpPr>
        <p:spPr>
          <a:xfrm>
            <a:off x="4892040" y="1517904"/>
            <a:ext cx="3749040" cy="201168"/>
          </a:xfrm>
          <a:prstGeom prst="rect">
            <a:avLst/>
          </a:prstGeom>
          <a:noFill/>
          <a:ln/>
        </p:spPr>
        <p:txBody>
          <a:bodyPr wrap="square" lIns="0" tIns="0" rIns="0" bIns="0" rtlCol="0" anchor="ctr"/>
          <a:lstStyle/>
          <a:p>
            <a:pPr indent="0" marL="0">
              <a:buNone/>
            </a:pPr>
            <a:r>
              <a:rPr lang="en-US" sz="900" b="1" spc="120" kern="0" dirty="0">
                <a:solidFill>
                  <a:srgbClr val="948A74"/>
                </a:solidFill>
                <a:latin typeface="Calibri" pitchFamily="34" charset="0"/>
                <a:ea typeface="Calibri" pitchFamily="34" charset="-122"/>
                <a:cs typeface="Calibri" pitchFamily="34" charset="-120"/>
              </a:rPr>
              <a:t>NEXT</a:t>
            </a:r>
            <a:endParaRPr lang="en-US" sz="900" dirty="0"/>
          </a:p>
        </p:txBody>
      </p:sp>
      <p:sp>
        <p:nvSpPr>
          <p:cNvPr id="15" name="Text 13"/>
          <p:cNvSpPr/>
          <p:nvPr/>
        </p:nvSpPr>
        <p:spPr>
          <a:xfrm>
            <a:off x="4892040" y="1773936"/>
            <a:ext cx="201168" cy="219456"/>
          </a:xfrm>
          <a:prstGeom prst="rect">
            <a:avLst/>
          </a:prstGeom>
          <a:noFill/>
          <a:ln/>
        </p:spPr>
        <p:txBody>
          <a:bodyPr wrap="square" lIns="0" tIns="0" rIns="0" bIns="0" rtlCol="0" anchor="ctr"/>
          <a:lstStyle/>
          <a:p>
            <a:pPr indent="0" marL="0">
              <a:buNone/>
            </a:pPr>
            <a:r>
              <a:rPr lang="en-US" sz="1100" dirty="0">
                <a:solidFill>
                  <a:srgbClr val="A8641A"/>
                </a:solidFill>
                <a:latin typeface="Calibri" pitchFamily="34" charset="0"/>
                <a:ea typeface="Calibri" pitchFamily="34" charset="-122"/>
                <a:cs typeface="Calibri" pitchFamily="34" charset="-120"/>
              </a:rPr>
              <a:t>—</a:t>
            </a:r>
            <a:endParaRPr lang="en-US" sz="1100" dirty="0"/>
          </a:p>
        </p:txBody>
      </p:sp>
      <p:sp>
        <p:nvSpPr>
          <p:cNvPr id="16" name="Text 14"/>
          <p:cNvSpPr/>
          <p:nvPr/>
        </p:nvSpPr>
        <p:spPr>
          <a:xfrm>
            <a:off x="5129784" y="1773936"/>
            <a:ext cx="3520440" cy="402336"/>
          </a:xfrm>
          <a:prstGeom prst="rect">
            <a:avLst/>
          </a:prstGeom>
          <a:noFill/>
          <a:ln/>
        </p:spPr>
        <p:txBody>
          <a:bodyPr wrap="square" lIns="0" tIns="0" rIns="0" bIns="0" rtlCol="0" anchor="ctr"/>
          <a:lstStyle/>
          <a:p>
            <a:pPr indent="0" marL="0">
              <a:lnSpc>
                <a:spcPct val="104000"/>
              </a:lnSpc>
              <a:buNone/>
            </a:pPr>
            <a:r>
              <a:rPr lang="en-US" sz="1000" dirty="0">
                <a:solidFill>
                  <a:srgbClr val="C9BFA8"/>
                </a:solidFill>
                <a:latin typeface="Calibri" pitchFamily="34" charset="0"/>
                <a:ea typeface="Calibri" pitchFamily="34" charset="-122"/>
                <a:cs typeface="Calibri" pitchFamily="34" charset="-120"/>
              </a:rPr>
              <a:t>Inbound email ingestion — the zero-friction acquisition motion</a:t>
            </a:r>
            <a:endParaRPr lang="en-US" sz="1000" dirty="0"/>
          </a:p>
        </p:txBody>
      </p:sp>
      <p:sp>
        <p:nvSpPr>
          <p:cNvPr id="17" name="Text 15"/>
          <p:cNvSpPr/>
          <p:nvPr/>
        </p:nvSpPr>
        <p:spPr>
          <a:xfrm>
            <a:off x="4892040" y="2194560"/>
            <a:ext cx="201168" cy="219456"/>
          </a:xfrm>
          <a:prstGeom prst="rect">
            <a:avLst/>
          </a:prstGeom>
          <a:noFill/>
          <a:ln/>
        </p:spPr>
        <p:txBody>
          <a:bodyPr wrap="square" lIns="0" tIns="0" rIns="0" bIns="0" rtlCol="0" anchor="ctr"/>
          <a:lstStyle/>
          <a:p>
            <a:pPr indent="0" marL="0">
              <a:buNone/>
            </a:pPr>
            <a:r>
              <a:rPr lang="en-US" sz="1100" dirty="0">
                <a:solidFill>
                  <a:srgbClr val="A8641A"/>
                </a:solidFill>
                <a:latin typeface="Calibri" pitchFamily="34" charset="0"/>
                <a:ea typeface="Calibri" pitchFamily="34" charset="-122"/>
                <a:cs typeface="Calibri" pitchFamily="34" charset="-120"/>
              </a:rPr>
              <a:t>—</a:t>
            </a:r>
            <a:endParaRPr lang="en-US" sz="1100" dirty="0"/>
          </a:p>
        </p:txBody>
      </p:sp>
      <p:sp>
        <p:nvSpPr>
          <p:cNvPr id="18" name="Text 16"/>
          <p:cNvSpPr/>
          <p:nvPr/>
        </p:nvSpPr>
        <p:spPr>
          <a:xfrm>
            <a:off x="5129784" y="2194560"/>
            <a:ext cx="3520440" cy="402336"/>
          </a:xfrm>
          <a:prstGeom prst="rect">
            <a:avLst/>
          </a:prstGeom>
          <a:noFill/>
          <a:ln/>
        </p:spPr>
        <p:txBody>
          <a:bodyPr wrap="square" lIns="0" tIns="0" rIns="0" bIns="0" rtlCol="0" anchor="ctr"/>
          <a:lstStyle/>
          <a:p>
            <a:pPr indent="0" marL="0">
              <a:lnSpc>
                <a:spcPct val="104000"/>
              </a:lnSpc>
              <a:buNone/>
            </a:pPr>
            <a:r>
              <a:rPr lang="en-US" sz="1000" dirty="0">
                <a:solidFill>
                  <a:srgbClr val="C9BFA8"/>
                </a:solidFill>
                <a:latin typeface="Calibri" pitchFamily="34" charset="0"/>
                <a:ea typeface="Calibri" pitchFamily="34" charset="-122"/>
                <a:cs typeface="Calibri" pitchFamily="34" charset="-120"/>
              </a:rPr>
              <a:t>Design-partner cohort of single family offices</a:t>
            </a:r>
            <a:endParaRPr lang="en-US" sz="1000" dirty="0"/>
          </a:p>
        </p:txBody>
      </p:sp>
      <p:sp>
        <p:nvSpPr>
          <p:cNvPr id="19" name="Text 17"/>
          <p:cNvSpPr/>
          <p:nvPr/>
        </p:nvSpPr>
        <p:spPr>
          <a:xfrm>
            <a:off x="4892040" y="2615184"/>
            <a:ext cx="201168" cy="219456"/>
          </a:xfrm>
          <a:prstGeom prst="rect">
            <a:avLst/>
          </a:prstGeom>
          <a:noFill/>
          <a:ln/>
        </p:spPr>
        <p:txBody>
          <a:bodyPr wrap="square" lIns="0" tIns="0" rIns="0" bIns="0" rtlCol="0" anchor="ctr"/>
          <a:lstStyle/>
          <a:p>
            <a:pPr indent="0" marL="0">
              <a:buNone/>
            </a:pPr>
            <a:r>
              <a:rPr lang="en-US" sz="1100" dirty="0">
                <a:solidFill>
                  <a:srgbClr val="A8641A"/>
                </a:solidFill>
                <a:latin typeface="Calibri" pitchFamily="34" charset="0"/>
                <a:ea typeface="Calibri" pitchFamily="34" charset="-122"/>
                <a:cs typeface="Calibri" pitchFamily="34" charset="-120"/>
              </a:rPr>
              <a:t>—</a:t>
            </a:r>
            <a:endParaRPr lang="en-US" sz="1100" dirty="0"/>
          </a:p>
        </p:txBody>
      </p:sp>
      <p:sp>
        <p:nvSpPr>
          <p:cNvPr id="20" name="Text 18"/>
          <p:cNvSpPr/>
          <p:nvPr/>
        </p:nvSpPr>
        <p:spPr>
          <a:xfrm>
            <a:off x="5129784" y="2615184"/>
            <a:ext cx="3520440" cy="402336"/>
          </a:xfrm>
          <a:prstGeom prst="rect">
            <a:avLst/>
          </a:prstGeom>
          <a:noFill/>
          <a:ln/>
        </p:spPr>
        <p:txBody>
          <a:bodyPr wrap="square" lIns="0" tIns="0" rIns="0" bIns="0" rtlCol="0" anchor="ctr"/>
          <a:lstStyle/>
          <a:p>
            <a:pPr indent="0" marL="0">
              <a:lnSpc>
                <a:spcPct val="104000"/>
              </a:lnSpc>
              <a:buNone/>
            </a:pPr>
            <a:r>
              <a:rPr lang="en-US" sz="1000" dirty="0">
                <a:solidFill>
                  <a:srgbClr val="C9BFA8"/>
                </a:solidFill>
                <a:latin typeface="Calibri" pitchFamily="34" charset="0"/>
                <a:ea typeface="Calibri" pitchFamily="34" charset="-122"/>
                <a:cs typeface="Calibri" pitchFamily="34" charset="-120"/>
              </a:rPr>
              <a:t>Alerting on graph deltas, not just on-demand review</a:t>
            </a:r>
            <a:endParaRPr lang="en-US" sz="1000" dirty="0"/>
          </a:p>
        </p:txBody>
      </p:sp>
      <p:sp>
        <p:nvSpPr>
          <p:cNvPr id="21" name="Text 19"/>
          <p:cNvSpPr/>
          <p:nvPr/>
        </p:nvSpPr>
        <p:spPr>
          <a:xfrm>
            <a:off x="4892040" y="3035808"/>
            <a:ext cx="201168" cy="219456"/>
          </a:xfrm>
          <a:prstGeom prst="rect">
            <a:avLst/>
          </a:prstGeom>
          <a:noFill/>
          <a:ln/>
        </p:spPr>
        <p:txBody>
          <a:bodyPr wrap="square" lIns="0" tIns="0" rIns="0" bIns="0" rtlCol="0" anchor="ctr"/>
          <a:lstStyle/>
          <a:p>
            <a:pPr indent="0" marL="0">
              <a:buNone/>
            </a:pPr>
            <a:r>
              <a:rPr lang="en-US" sz="1100" dirty="0">
                <a:solidFill>
                  <a:srgbClr val="A8641A"/>
                </a:solidFill>
                <a:latin typeface="Calibri" pitchFamily="34" charset="0"/>
                <a:ea typeface="Calibri" pitchFamily="34" charset="-122"/>
                <a:cs typeface="Calibri" pitchFamily="34" charset="-120"/>
              </a:rPr>
              <a:t>—</a:t>
            </a:r>
            <a:endParaRPr lang="en-US" sz="1100" dirty="0"/>
          </a:p>
        </p:txBody>
      </p:sp>
      <p:sp>
        <p:nvSpPr>
          <p:cNvPr id="22" name="Text 20"/>
          <p:cNvSpPr/>
          <p:nvPr/>
        </p:nvSpPr>
        <p:spPr>
          <a:xfrm>
            <a:off x="5129784" y="3035808"/>
            <a:ext cx="3520440" cy="402336"/>
          </a:xfrm>
          <a:prstGeom prst="rect">
            <a:avLst/>
          </a:prstGeom>
          <a:noFill/>
          <a:ln/>
        </p:spPr>
        <p:txBody>
          <a:bodyPr wrap="square" lIns="0" tIns="0" rIns="0" bIns="0" rtlCol="0" anchor="ctr"/>
          <a:lstStyle/>
          <a:p>
            <a:pPr indent="0" marL="0">
              <a:lnSpc>
                <a:spcPct val="104000"/>
              </a:lnSpc>
              <a:buNone/>
            </a:pPr>
            <a:r>
              <a:rPr lang="en-US" sz="1000" dirty="0">
                <a:solidFill>
                  <a:srgbClr val="C9BFA8"/>
                </a:solidFill>
                <a:latin typeface="Calibri" pitchFamily="34" charset="0"/>
                <a:ea typeface="Calibri" pitchFamily="34" charset="-122"/>
                <a:cs typeface="Calibri" pitchFamily="34" charset="-120"/>
              </a:rPr>
              <a:t>Audit-grade exports for advisers and auditors</a:t>
            </a:r>
            <a:endParaRPr lang="en-US" sz="1000" dirty="0"/>
          </a:p>
        </p:txBody>
      </p:sp>
      <p:sp>
        <p:nvSpPr>
          <p:cNvPr id="23" name="Shape 21"/>
          <p:cNvSpPr/>
          <p:nvPr/>
        </p:nvSpPr>
        <p:spPr>
          <a:xfrm>
            <a:off x="502920" y="3767328"/>
            <a:ext cx="8138160" cy="658368"/>
          </a:xfrm>
          <a:prstGeom prst="rect">
            <a:avLst/>
          </a:prstGeom>
          <a:solidFill>
            <a:srgbClr val="9C2B1F"/>
          </a:solidFill>
          <a:ln/>
        </p:spPr>
      </p:sp>
      <p:sp>
        <p:nvSpPr>
          <p:cNvPr id="24" name="Text 22"/>
          <p:cNvSpPr/>
          <p:nvPr/>
        </p:nvSpPr>
        <p:spPr>
          <a:xfrm>
            <a:off x="685800" y="3877056"/>
            <a:ext cx="7772400" cy="457200"/>
          </a:xfrm>
          <a:prstGeom prst="rect">
            <a:avLst/>
          </a:prstGeom>
          <a:noFill/>
          <a:ln/>
        </p:spPr>
        <p:txBody>
          <a:bodyPr wrap="square" lIns="0" tIns="0" rIns="0" bIns="0" rtlCol="0" anchor="ctr"/>
          <a:lstStyle/>
          <a:p>
            <a:pPr indent="0" marL="0">
              <a:buNone/>
            </a:pPr>
            <a:r>
              <a:rPr lang="en-US" sz="1300" b="1" dirty="0">
                <a:solidFill>
                  <a:srgbClr val="F5F1E7"/>
                </a:solidFill>
                <a:latin typeface="Georgia" pitchFamily="34" charset="0"/>
                <a:ea typeface="Georgia" pitchFamily="34" charset="-122"/>
                <a:cs typeface="Georgia" pitchFamily="34" charset="-120"/>
              </a:rPr>
              <a:t>Seeking design partners and pre-seed capital to convert a working engine into a funded product.</a:t>
            </a:r>
            <a:endParaRPr lang="en-US" sz="1300" dirty="0"/>
          </a:p>
        </p:txBody>
      </p:sp>
      <p:sp>
        <p:nvSpPr>
          <p:cNvPr id="25" name="Text 23"/>
          <p:cNvSpPr/>
          <p:nvPr/>
        </p:nvSpPr>
        <p:spPr>
          <a:xfrm>
            <a:off x="502920" y="4814316"/>
            <a:ext cx="4572000" cy="219456"/>
          </a:xfrm>
          <a:prstGeom prst="rect">
            <a:avLst/>
          </a:prstGeom>
          <a:noFill/>
          <a:ln/>
        </p:spPr>
        <p:txBody>
          <a:bodyPr wrap="square" lIns="0" tIns="0" rIns="0" bIns="0" rtlCol="0" anchor="ctr"/>
          <a:lstStyle/>
          <a:p>
            <a:pPr indent="0" marL="0">
              <a:buNone/>
            </a:pPr>
            <a:r>
              <a:rPr lang="en-US" sz="950" dirty="0">
                <a:solidFill>
                  <a:srgbClr val="948A74"/>
                </a:solidFill>
                <a:latin typeface="Calibri" pitchFamily="34" charset="0"/>
                <a:ea typeface="Calibri" pitchFamily="34" charset="-122"/>
                <a:cs typeface="Calibri" pitchFamily="34" charset="-120"/>
              </a:rPr>
              <a:t>cyrdeck-familyoffice.vercel.app</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Cyrdeck Exposure Graph</dc:title>
  <dc:subject>PptxGenJS Presentation</dc:subject>
  <dc:creator>Cyrdeck</dc:creator>
  <cp:lastModifiedBy>Cyrdeck</cp:lastModifiedBy>
  <cp:revision>1</cp:revision>
  <dcterms:created xsi:type="dcterms:W3CDTF">2026-08-15T06:43:24Z</dcterms:created>
  <dcterms:modified xsi:type="dcterms:W3CDTF">2026-08-15T06:43:24Z</dcterms:modified>
</cp:coreProperties>
</file>